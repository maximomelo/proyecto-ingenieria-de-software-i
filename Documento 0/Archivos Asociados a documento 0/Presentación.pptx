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TT Ramillas" charset="1" panose="020E0000080000020004"/>
      <p:regular r:id="rId25"/>
    </p:embeddedFont>
    <p:embeddedFont>
      <p:font typeface="TT Ramillas Italics" charset="1" panose="020E0000080000090004"/>
      <p:regular r:id="rId26"/>
    </p:embeddedFont>
    <p:embeddedFont>
      <p:font typeface="TT Ramillas Bold" charset="1" panose="020E00000800000200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 Id="rId4" Target="../media/image2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94C69"/>
        </a:solidFill>
      </p:bgPr>
    </p:bg>
    <p:spTree>
      <p:nvGrpSpPr>
        <p:cNvPr id="1" name=""/>
        <p:cNvGrpSpPr/>
        <p:nvPr/>
      </p:nvGrpSpPr>
      <p:grpSpPr>
        <a:xfrm>
          <a:off x="0" y="0"/>
          <a:ext cx="0" cy="0"/>
          <a:chOff x="0" y="0"/>
          <a:chExt cx="0" cy="0"/>
        </a:xfrm>
      </p:grpSpPr>
      <p:sp>
        <p:nvSpPr>
          <p:cNvPr name="TextBox 2" id="2"/>
          <p:cNvSpPr txBox="true"/>
          <p:nvPr/>
        </p:nvSpPr>
        <p:spPr>
          <a:xfrm rot="0">
            <a:off x="3105329" y="2991051"/>
            <a:ext cx="12077341" cy="2666476"/>
          </a:xfrm>
          <a:prstGeom prst="rect">
            <a:avLst/>
          </a:prstGeom>
        </p:spPr>
        <p:txBody>
          <a:bodyPr anchor="t" rtlCol="false" tIns="0" lIns="0" bIns="0" rIns="0">
            <a:spAutoFit/>
          </a:bodyPr>
          <a:lstStyle/>
          <a:p>
            <a:pPr algn="ctr" marL="0" indent="0" lvl="0">
              <a:lnSpc>
                <a:spcPts val="7046"/>
              </a:lnSpc>
            </a:pPr>
            <a:r>
              <a:rPr lang="en-US" sz="6181">
                <a:solidFill>
                  <a:srgbClr val="F5F3F3"/>
                </a:solidFill>
                <a:latin typeface="TT Ramillas"/>
                <a:ea typeface="TT Ramillas"/>
                <a:cs typeface="TT Ramillas"/>
                <a:sym typeface="TT Ramillas"/>
              </a:rPr>
              <a:t>PLUGIN FEEDBACK CANVAS</a:t>
            </a:r>
          </a:p>
          <a:p>
            <a:pPr algn="ctr" marL="0" indent="0" lvl="0">
              <a:lnSpc>
                <a:spcPts val="7046"/>
              </a:lnSpc>
            </a:pPr>
            <a:r>
              <a:rPr lang="en-US" sz="6181">
                <a:solidFill>
                  <a:srgbClr val="F5F3F3"/>
                </a:solidFill>
                <a:latin typeface="TT Ramillas"/>
                <a:ea typeface="TT Ramillas"/>
                <a:cs typeface="TT Ramillas"/>
                <a:sym typeface="TT Ramillas"/>
              </a:rPr>
              <a:t>SISTEMA DE FEEDBACK ADAPTATIVO PARA CANVAS LMS</a:t>
            </a:r>
          </a:p>
        </p:txBody>
      </p:sp>
      <p:grpSp>
        <p:nvGrpSpPr>
          <p:cNvPr name="Group 3" id="3"/>
          <p:cNvGrpSpPr/>
          <p:nvPr/>
        </p:nvGrpSpPr>
        <p:grpSpPr>
          <a:xfrm rot="0">
            <a:off x="3166361" y="6326506"/>
            <a:ext cx="11955278" cy="1186477"/>
            <a:chOff x="0" y="0"/>
            <a:chExt cx="4241545" cy="420943"/>
          </a:xfrm>
        </p:grpSpPr>
        <p:sp>
          <p:nvSpPr>
            <p:cNvPr name="Freeform 4" id="4"/>
            <p:cNvSpPr/>
            <p:nvPr/>
          </p:nvSpPr>
          <p:spPr>
            <a:xfrm flipH="false" flipV="false" rot="0">
              <a:off x="0" y="0"/>
              <a:ext cx="4241545" cy="420943"/>
            </a:xfrm>
            <a:custGeom>
              <a:avLst/>
              <a:gdLst/>
              <a:ahLst/>
              <a:cxnLst/>
              <a:rect r="r" b="b" t="t" l="l"/>
              <a:pathLst>
                <a:path h="420943" w="4241545">
                  <a:moveTo>
                    <a:pt x="0" y="0"/>
                  </a:moveTo>
                  <a:lnTo>
                    <a:pt x="4241545" y="0"/>
                  </a:lnTo>
                  <a:lnTo>
                    <a:pt x="4241545" y="420943"/>
                  </a:lnTo>
                  <a:lnTo>
                    <a:pt x="0" y="420943"/>
                  </a:lnTo>
                  <a:close/>
                </a:path>
              </a:pathLst>
            </a:custGeom>
            <a:solidFill>
              <a:srgbClr val="FFFFFF"/>
            </a:solidFill>
            <a:ln cap="sq">
              <a:noFill/>
              <a:prstDash val="solid"/>
              <a:miter/>
            </a:ln>
          </p:spPr>
        </p:sp>
        <p:sp>
          <p:nvSpPr>
            <p:cNvPr name="TextBox 5" id="5"/>
            <p:cNvSpPr txBox="true"/>
            <p:nvPr/>
          </p:nvSpPr>
          <p:spPr>
            <a:xfrm>
              <a:off x="0" y="-38100"/>
              <a:ext cx="4241545" cy="4590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312297" y="6743544"/>
            <a:ext cx="2339986" cy="3677778"/>
          </a:xfrm>
          <a:custGeom>
            <a:avLst/>
            <a:gdLst/>
            <a:ahLst/>
            <a:cxnLst/>
            <a:rect r="r" b="b" t="t" l="l"/>
            <a:pathLst>
              <a:path h="3677778" w="2339986">
                <a:moveTo>
                  <a:pt x="0" y="0"/>
                </a:moveTo>
                <a:lnTo>
                  <a:pt x="2339986" y="0"/>
                </a:lnTo>
                <a:lnTo>
                  <a:pt x="2339986" y="3677778"/>
                </a:lnTo>
                <a:lnTo>
                  <a:pt x="0" y="3677778"/>
                </a:lnTo>
                <a:lnTo>
                  <a:pt x="0" y="0"/>
                </a:lnTo>
                <a:close/>
              </a:path>
            </a:pathLst>
          </a:custGeom>
          <a:blipFill>
            <a:blip r:embed="rId2">
              <a:alphaModFix amt="18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1731731" y="8582433"/>
            <a:ext cx="2304584" cy="1760126"/>
          </a:xfrm>
          <a:custGeom>
            <a:avLst/>
            <a:gdLst/>
            <a:ahLst/>
            <a:cxnLst/>
            <a:rect r="r" b="b" t="t" l="l"/>
            <a:pathLst>
              <a:path h="1760126" w="2304584">
                <a:moveTo>
                  <a:pt x="0" y="0"/>
                </a:moveTo>
                <a:lnTo>
                  <a:pt x="2304583" y="0"/>
                </a:lnTo>
                <a:lnTo>
                  <a:pt x="2304583" y="1760125"/>
                </a:lnTo>
                <a:lnTo>
                  <a:pt x="0" y="1760125"/>
                </a:lnTo>
                <a:lnTo>
                  <a:pt x="0" y="0"/>
                </a:lnTo>
                <a:close/>
              </a:path>
            </a:pathLst>
          </a:custGeom>
          <a:blipFill>
            <a:blip r:embed="rId4">
              <a:alphaModFix amt="18999"/>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10800000">
            <a:off x="15470036" y="-85725"/>
            <a:ext cx="2339986" cy="3677778"/>
          </a:xfrm>
          <a:custGeom>
            <a:avLst/>
            <a:gdLst/>
            <a:ahLst/>
            <a:cxnLst/>
            <a:rect r="r" b="b" t="t" l="l"/>
            <a:pathLst>
              <a:path h="3677778" w="2339986">
                <a:moveTo>
                  <a:pt x="0" y="0"/>
                </a:moveTo>
                <a:lnTo>
                  <a:pt x="2339986" y="0"/>
                </a:lnTo>
                <a:lnTo>
                  <a:pt x="2339986" y="3677778"/>
                </a:lnTo>
                <a:lnTo>
                  <a:pt x="0" y="3677778"/>
                </a:lnTo>
                <a:lnTo>
                  <a:pt x="0" y="0"/>
                </a:lnTo>
                <a:close/>
              </a:path>
            </a:pathLst>
          </a:custGeom>
          <a:blipFill>
            <a:blip r:embed="rId2">
              <a:alphaModFix amt="18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086005" y="-6962"/>
            <a:ext cx="2304584" cy="1760126"/>
          </a:xfrm>
          <a:custGeom>
            <a:avLst/>
            <a:gdLst/>
            <a:ahLst/>
            <a:cxnLst/>
            <a:rect r="r" b="b" t="t" l="l"/>
            <a:pathLst>
              <a:path h="1760126" w="2304584">
                <a:moveTo>
                  <a:pt x="0" y="0"/>
                </a:moveTo>
                <a:lnTo>
                  <a:pt x="2304584" y="0"/>
                </a:lnTo>
                <a:lnTo>
                  <a:pt x="2304584" y="1760126"/>
                </a:lnTo>
                <a:lnTo>
                  <a:pt x="0" y="1760126"/>
                </a:lnTo>
                <a:lnTo>
                  <a:pt x="0" y="0"/>
                </a:lnTo>
                <a:close/>
              </a:path>
            </a:pathLst>
          </a:custGeom>
          <a:blipFill>
            <a:blip r:embed="rId4">
              <a:alphaModFix amt="18999"/>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0" id="10"/>
          <p:cNvSpPr/>
          <p:nvPr/>
        </p:nvSpPr>
        <p:spPr>
          <a:xfrm flipH="false" flipV="false" rot="0">
            <a:off x="14144369" y="8469828"/>
            <a:ext cx="3607289" cy="1817172"/>
          </a:xfrm>
          <a:custGeom>
            <a:avLst/>
            <a:gdLst/>
            <a:ahLst/>
            <a:cxnLst/>
            <a:rect r="r" b="b" t="t" l="l"/>
            <a:pathLst>
              <a:path h="1817172" w="3607289">
                <a:moveTo>
                  <a:pt x="0" y="0"/>
                </a:moveTo>
                <a:lnTo>
                  <a:pt x="3607289" y="0"/>
                </a:lnTo>
                <a:lnTo>
                  <a:pt x="3607289" y="1817172"/>
                </a:lnTo>
                <a:lnTo>
                  <a:pt x="0" y="1817172"/>
                </a:lnTo>
                <a:lnTo>
                  <a:pt x="0" y="0"/>
                </a:lnTo>
                <a:close/>
              </a:path>
            </a:pathLst>
          </a:custGeom>
          <a:blipFill>
            <a:blip r:embed="rId6">
              <a:alphaModFix amt="27000"/>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11" id="11"/>
          <p:cNvSpPr txBox="true"/>
          <p:nvPr/>
        </p:nvSpPr>
        <p:spPr>
          <a:xfrm rot="0">
            <a:off x="3442314" y="6590678"/>
            <a:ext cx="11403371" cy="556105"/>
          </a:xfrm>
          <a:prstGeom prst="rect">
            <a:avLst/>
          </a:prstGeom>
        </p:spPr>
        <p:txBody>
          <a:bodyPr anchor="t" rtlCol="false" tIns="0" lIns="0" bIns="0" rIns="0">
            <a:spAutoFit/>
          </a:bodyPr>
          <a:lstStyle/>
          <a:p>
            <a:pPr algn="ctr" marL="0" indent="0" lvl="0">
              <a:lnSpc>
                <a:spcPts val="4536"/>
              </a:lnSpc>
              <a:spcBef>
                <a:spcPct val="0"/>
              </a:spcBef>
            </a:pPr>
            <a:r>
              <a:rPr lang="en-US" sz="3240" i="true">
                <a:solidFill>
                  <a:srgbClr val="094C69"/>
                </a:solidFill>
                <a:latin typeface="TT Ramillas Italics"/>
                <a:ea typeface="TT Ramillas Italics"/>
                <a:cs typeface="TT Ramillas Italics"/>
                <a:sym typeface="TT Ramillas Italics"/>
              </a:rPr>
              <a:t>Proyecto Académico | Universidad Andrés Bello | UNIDA | 2024</a:t>
            </a:r>
          </a:p>
        </p:txBody>
      </p:sp>
      <p:sp>
        <p:nvSpPr>
          <p:cNvPr name="Freeform 12" id="12"/>
          <p:cNvSpPr/>
          <p:nvPr/>
        </p:nvSpPr>
        <p:spPr>
          <a:xfrm flipH="false" flipV="false" rot="-10800000">
            <a:off x="848639" y="-35485"/>
            <a:ext cx="3607289" cy="1817172"/>
          </a:xfrm>
          <a:custGeom>
            <a:avLst/>
            <a:gdLst/>
            <a:ahLst/>
            <a:cxnLst/>
            <a:rect r="r" b="b" t="t" l="l"/>
            <a:pathLst>
              <a:path h="1817172" w="3607289">
                <a:moveTo>
                  <a:pt x="0" y="0"/>
                </a:moveTo>
                <a:lnTo>
                  <a:pt x="3607289" y="0"/>
                </a:lnTo>
                <a:lnTo>
                  <a:pt x="3607289" y="1817172"/>
                </a:lnTo>
                <a:lnTo>
                  <a:pt x="0" y="1817172"/>
                </a:lnTo>
                <a:lnTo>
                  <a:pt x="0" y="0"/>
                </a:lnTo>
                <a:close/>
              </a:path>
            </a:pathLst>
          </a:custGeom>
          <a:blipFill>
            <a:blip r:embed="rId6">
              <a:alphaModFix amt="27000"/>
              <a:extLst>
                <a:ext uri="{96DAC541-7B7A-43D3-8B79-37D633B846F1}">
                  <asvg:svgBlip xmlns:asvg="http://schemas.microsoft.com/office/drawing/2016/SVG/main" r:embed="rId7"/>
                </a:ext>
              </a:extLst>
            </a:blip>
            <a:stretch>
              <a:fillRect l="0" t="0" r="0" b="0"/>
            </a:stretch>
          </a:blipFill>
          <a:ln cap="sq">
            <a:noFill/>
            <a:prstDash val="solid"/>
            <a:miter/>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479547"/>
            <a:chOff x="0" y="0"/>
            <a:chExt cx="24384000" cy="3306063"/>
          </a:xfrm>
        </p:grpSpPr>
        <p:pic>
          <p:nvPicPr>
            <p:cNvPr name="Picture 3" id="3"/>
            <p:cNvPicPr>
              <a:picLocks noChangeAspect="true"/>
            </p:cNvPicPr>
            <p:nvPr/>
          </p:nvPicPr>
          <p:blipFill>
            <a:blip r:embed="rId2"/>
            <a:srcRect l="0" t="38106" r="0" b="38106"/>
            <a:stretch>
              <a:fillRect/>
            </a:stretch>
          </p:blipFill>
          <p:spPr>
            <a:xfrm flipH="false" flipV="false">
              <a:off x="0" y="0"/>
              <a:ext cx="24384000" cy="3306063"/>
            </a:xfrm>
            <a:prstGeom prst="rect">
              <a:avLst/>
            </a:prstGeom>
          </p:spPr>
        </p:pic>
      </p:grpSp>
      <p:grpSp>
        <p:nvGrpSpPr>
          <p:cNvPr name="Group 4" id="4"/>
          <p:cNvGrpSpPr/>
          <p:nvPr/>
        </p:nvGrpSpPr>
        <p:grpSpPr>
          <a:xfrm rot="0">
            <a:off x="2821755" y="3721279"/>
            <a:ext cx="587725" cy="4768749"/>
            <a:chOff x="0" y="0"/>
            <a:chExt cx="154792" cy="1255967"/>
          </a:xfrm>
        </p:grpSpPr>
        <p:sp>
          <p:nvSpPr>
            <p:cNvPr name="Freeform 5" id="5"/>
            <p:cNvSpPr/>
            <p:nvPr/>
          </p:nvSpPr>
          <p:spPr>
            <a:xfrm flipH="false" flipV="false" rot="0">
              <a:off x="0" y="0"/>
              <a:ext cx="154792" cy="1255967"/>
            </a:xfrm>
            <a:custGeom>
              <a:avLst/>
              <a:gdLst/>
              <a:ahLst/>
              <a:cxnLst/>
              <a:rect r="r" b="b" t="t" l="l"/>
              <a:pathLst>
                <a:path h="1255967" w="154792">
                  <a:moveTo>
                    <a:pt x="0" y="0"/>
                  </a:moveTo>
                  <a:lnTo>
                    <a:pt x="154792" y="0"/>
                  </a:lnTo>
                  <a:lnTo>
                    <a:pt x="154792" y="1255967"/>
                  </a:lnTo>
                  <a:lnTo>
                    <a:pt x="0" y="1255967"/>
                  </a:lnTo>
                  <a:close/>
                </a:path>
              </a:pathLst>
            </a:custGeom>
            <a:solidFill>
              <a:srgbClr val="094C69"/>
            </a:solidFill>
          </p:spPr>
        </p:sp>
        <p:sp>
          <p:nvSpPr>
            <p:cNvPr name="TextBox 6" id="6"/>
            <p:cNvSpPr txBox="true"/>
            <p:nvPr/>
          </p:nvSpPr>
          <p:spPr>
            <a:xfrm>
              <a:off x="0" y="-38100"/>
              <a:ext cx="154792" cy="1294067"/>
            </a:xfrm>
            <a:prstGeom prst="rect">
              <a:avLst/>
            </a:prstGeom>
          </p:spPr>
          <p:txBody>
            <a:bodyPr anchor="ctr" rtlCol="false" tIns="50800" lIns="50800" bIns="50800" rIns="50800"/>
            <a:lstStyle/>
            <a:p>
              <a:pPr algn="ctr" marL="0" indent="0" lvl="0">
                <a:lnSpc>
                  <a:spcPts val="2659"/>
                </a:lnSpc>
              </a:pPr>
            </a:p>
          </p:txBody>
        </p:sp>
      </p:grpSp>
      <p:sp>
        <p:nvSpPr>
          <p:cNvPr name="TextBox 7" id="7"/>
          <p:cNvSpPr txBox="true"/>
          <p:nvPr/>
        </p:nvSpPr>
        <p:spPr>
          <a:xfrm rot="0">
            <a:off x="4142906" y="3863797"/>
            <a:ext cx="10353970" cy="914305"/>
          </a:xfrm>
          <a:prstGeom prst="rect">
            <a:avLst/>
          </a:prstGeom>
        </p:spPr>
        <p:txBody>
          <a:bodyPr anchor="t" rtlCol="false" tIns="0" lIns="0" bIns="0" rIns="0">
            <a:spAutoFit/>
          </a:bodyPr>
          <a:lstStyle/>
          <a:p>
            <a:pPr algn="l" marL="0" indent="0" lvl="0">
              <a:lnSpc>
                <a:spcPts val="7110"/>
              </a:lnSpc>
              <a:spcBef>
                <a:spcPct val="0"/>
              </a:spcBef>
            </a:pPr>
            <a:r>
              <a:rPr lang="en-US" sz="6237">
                <a:solidFill>
                  <a:srgbClr val="000000"/>
                </a:solidFill>
                <a:latin typeface="TT Ramillas"/>
                <a:ea typeface="TT Ramillas"/>
                <a:cs typeface="TT Ramillas"/>
                <a:sym typeface="TT Ramillas"/>
              </a:rPr>
              <a:t>CONTEXTO DEL PROYECTO</a:t>
            </a:r>
          </a:p>
        </p:txBody>
      </p:sp>
      <p:sp>
        <p:nvSpPr>
          <p:cNvPr name="TextBox 8" id="8"/>
          <p:cNvSpPr txBox="true"/>
          <p:nvPr/>
        </p:nvSpPr>
        <p:spPr>
          <a:xfrm rot="0">
            <a:off x="4142906" y="5603283"/>
            <a:ext cx="11845770" cy="3215988"/>
          </a:xfrm>
          <a:prstGeom prst="rect">
            <a:avLst/>
          </a:prstGeom>
        </p:spPr>
        <p:txBody>
          <a:bodyPr anchor="t" rtlCol="false" tIns="0" lIns="0" bIns="0" rIns="0">
            <a:spAutoFit/>
          </a:bodyPr>
          <a:lstStyle/>
          <a:p>
            <a:pPr algn="l" marL="0" indent="0" lvl="0">
              <a:lnSpc>
                <a:spcPts val="3690"/>
              </a:lnSpc>
              <a:spcBef>
                <a:spcPct val="0"/>
              </a:spcBef>
            </a:pPr>
            <a:r>
              <a:rPr lang="en-US" sz="2636" strike="noStrike" u="none">
                <a:solidFill>
                  <a:srgbClr val="000000"/>
                </a:solidFill>
                <a:latin typeface="TT Ramillas"/>
                <a:ea typeface="TT Ramillas"/>
                <a:cs typeface="TT Ramillas"/>
                <a:sym typeface="TT Ramillas"/>
              </a:rPr>
              <a:t>Universidad Andrés Bello (UNAB) se posiciona entre las Top 5 universidades de Chile y ocupa el ranking #34 en Latinoamérica, con acreditación institucional de excelencia. UNIDA (Unidad de Innovación y Desarrollo Académico) lidera la transformación pedagógica, impulsando soluciones tecnológicas para el éxito estudiantil. El objetivo central es mejorar las tasas de retención académica mediante herramientas innovadoras que personalicen la experiencia educativa.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sp>
        <p:nvSpPr>
          <p:cNvPr name="TextBox 2" id="2"/>
          <p:cNvSpPr txBox="true"/>
          <p:nvPr/>
        </p:nvSpPr>
        <p:spPr>
          <a:xfrm rot="0">
            <a:off x="3119536" y="2577726"/>
            <a:ext cx="11581777" cy="713712"/>
          </a:xfrm>
          <a:prstGeom prst="rect">
            <a:avLst/>
          </a:prstGeom>
        </p:spPr>
        <p:txBody>
          <a:bodyPr anchor="t" rtlCol="false" tIns="0" lIns="0" bIns="0" rIns="0">
            <a:spAutoFit/>
          </a:bodyPr>
          <a:lstStyle/>
          <a:p>
            <a:pPr algn="l" marL="0" indent="0" lvl="0">
              <a:lnSpc>
                <a:spcPts val="5600"/>
              </a:lnSpc>
              <a:spcBef>
                <a:spcPct val="0"/>
              </a:spcBef>
            </a:pPr>
            <a:r>
              <a:rPr lang="en-US" sz="4913">
                <a:solidFill>
                  <a:srgbClr val="000000"/>
                </a:solidFill>
                <a:latin typeface="TT Ramillas"/>
                <a:ea typeface="TT Ramillas"/>
                <a:cs typeface="TT Ramillas"/>
                <a:sym typeface="TT Ramillas"/>
              </a:rPr>
              <a:t>PROBLEMÁTICA A RESOLVER</a:t>
            </a:r>
          </a:p>
        </p:txBody>
      </p:sp>
      <p:sp>
        <p:nvSpPr>
          <p:cNvPr name="TextBox 3" id="3"/>
          <p:cNvSpPr txBox="true"/>
          <p:nvPr/>
        </p:nvSpPr>
        <p:spPr>
          <a:xfrm rot="0">
            <a:off x="3119536" y="3869785"/>
            <a:ext cx="10458051" cy="3665625"/>
          </a:xfrm>
          <a:prstGeom prst="rect">
            <a:avLst/>
          </a:prstGeom>
        </p:spPr>
        <p:txBody>
          <a:bodyPr anchor="t" rtlCol="false" tIns="0" lIns="0" bIns="0" rIns="0">
            <a:spAutoFit/>
          </a:bodyPr>
          <a:lstStyle/>
          <a:p>
            <a:pPr algn="l" marL="0" indent="0" lvl="0">
              <a:lnSpc>
                <a:spcPts val="3232"/>
              </a:lnSpc>
            </a:pPr>
            <a:r>
              <a:rPr lang="en-US" sz="2309">
                <a:solidFill>
                  <a:srgbClr val="000000"/>
                </a:solidFill>
                <a:latin typeface="TT Ramillas"/>
                <a:ea typeface="TT Ramillas"/>
                <a:cs typeface="TT Ramillas"/>
                <a:sym typeface="TT Ramillas"/>
              </a:rPr>
              <a:t>Desafíos de educación masiva: la necesidad de proporcionar feedback adaptativo y personalizado a gran escala representa un reto significativo en instituciones con alto volumen de estudiantes.</a:t>
            </a:r>
          </a:p>
          <a:p>
            <a:pPr algn="l" marL="0" indent="0" lvl="0">
              <a:lnSpc>
                <a:spcPts val="3232"/>
              </a:lnSpc>
            </a:pPr>
            <a:r>
              <a:rPr lang="en-US" sz="2309">
                <a:solidFill>
                  <a:srgbClr val="000000"/>
                </a:solidFill>
                <a:latin typeface="TT Ramillas"/>
                <a:ea typeface="TT Ramillas"/>
                <a:cs typeface="TT Ramillas"/>
                <a:sym typeface="TT Ramillas"/>
              </a:rPr>
              <a:t>Cuellos de botella en evaluación manual: los docentes enfrentan limitaciones de tiempo para entregar retroalimentación oportuna y diferenciada a cada estudiante, afectando la calidad del proceso formativo.</a:t>
            </a:r>
          </a:p>
          <a:p>
            <a:pPr algn="l" marL="0" indent="0" lvl="0">
              <a:lnSpc>
                <a:spcPts val="3232"/>
              </a:lnSpc>
            </a:pPr>
            <a:r>
              <a:rPr lang="en-US" sz="2309">
                <a:solidFill>
                  <a:srgbClr val="000000"/>
                </a:solidFill>
                <a:latin typeface="TT Ramillas"/>
                <a:ea typeface="TT Ramillas"/>
                <a:cs typeface="TT Ramillas"/>
                <a:sym typeface="TT Ramillas"/>
              </a:rPr>
              <a:t>Necesidad de feedback personalizado: se requiere vincular la retroalimentación al historial académico individual del estudiante para ofrecer orientación efectiva y diferenciada según su desempeño previo.</a:t>
            </a:r>
          </a:p>
        </p:txBody>
      </p:sp>
      <p:grpSp>
        <p:nvGrpSpPr>
          <p:cNvPr name="Group 4" id="4"/>
          <p:cNvGrpSpPr/>
          <p:nvPr/>
        </p:nvGrpSpPr>
        <p:grpSpPr>
          <a:xfrm rot="0">
            <a:off x="-1307930" y="-535143"/>
            <a:ext cx="3020465" cy="11934400"/>
            <a:chOff x="0" y="0"/>
            <a:chExt cx="795514" cy="3143216"/>
          </a:xfrm>
        </p:grpSpPr>
        <p:sp>
          <p:nvSpPr>
            <p:cNvPr name="Freeform 5" id="5"/>
            <p:cNvSpPr/>
            <p:nvPr/>
          </p:nvSpPr>
          <p:spPr>
            <a:xfrm flipH="false" flipV="false" rot="0">
              <a:off x="0" y="0"/>
              <a:ext cx="795514" cy="3143216"/>
            </a:xfrm>
            <a:custGeom>
              <a:avLst/>
              <a:gdLst/>
              <a:ahLst/>
              <a:cxnLst/>
              <a:rect r="r" b="b" t="t" l="l"/>
              <a:pathLst>
                <a:path h="3143216" w="795514">
                  <a:moveTo>
                    <a:pt x="0" y="0"/>
                  </a:moveTo>
                  <a:lnTo>
                    <a:pt x="795514" y="0"/>
                  </a:lnTo>
                  <a:lnTo>
                    <a:pt x="795514" y="3143216"/>
                  </a:lnTo>
                  <a:lnTo>
                    <a:pt x="0" y="3143216"/>
                  </a:lnTo>
                  <a:close/>
                </a:path>
              </a:pathLst>
            </a:custGeom>
            <a:solidFill>
              <a:srgbClr val="094C69"/>
            </a:solidFill>
          </p:spPr>
        </p:sp>
        <p:sp>
          <p:nvSpPr>
            <p:cNvPr name="TextBox 6" id="6"/>
            <p:cNvSpPr txBox="true"/>
            <p:nvPr/>
          </p:nvSpPr>
          <p:spPr>
            <a:xfrm>
              <a:off x="0" y="-38100"/>
              <a:ext cx="795514" cy="3181316"/>
            </a:xfrm>
            <a:prstGeom prst="rect">
              <a:avLst/>
            </a:prstGeom>
          </p:spPr>
          <p:txBody>
            <a:bodyPr anchor="ctr" rtlCol="false" tIns="50800" lIns="50800" bIns="50800" rIns="50800"/>
            <a:lstStyle/>
            <a:p>
              <a:pPr algn="ctr" marL="0" indent="0" lvl="0">
                <a:lnSpc>
                  <a:spcPts val="2659"/>
                </a:lnSpc>
              </a:pPr>
            </a:p>
          </p:txBody>
        </p:sp>
      </p:grpSp>
      <p:sp>
        <p:nvSpPr>
          <p:cNvPr name="Freeform 7" id="7"/>
          <p:cNvSpPr/>
          <p:nvPr/>
        </p:nvSpPr>
        <p:spPr>
          <a:xfrm flipH="false" flipV="false" rot="-10800000">
            <a:off x="15452394" y="-293807"/>
            <a:ext cx="2339986" cy="3677778"/>
          </a:xfrm>
          <a:custGeom>
            <a:avLst/>
            <a:gdLst/>
            <a:ahLst/>
            <a:cxnLst/>
            <a:rect r="r" b="b" t="t" l="l"/>
            <a:pathLst>
              <a:path h="3677778" w="2339986">
                <a:moveTo>
                  <a:pt x="0" y="0"/>
                </a:moveTo>
                <a:lnTo>
                  <a:pt x="2339986" y="0"/>
                </a:lnTo>
                <a:lnTo>
                  <a:pt x="2339986" y="3677778"/>
                </a:lnTo>
                <a:lnTo>
                  <a:pt x="0" y="3677778"/>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4068362" y="-215044"/>
            <a:ext cx="2304584" cy="1760126"/>
          </a:xfrm>
          <a:custGeom>
            <a:avLst/>
            <a:gdLst/>
            <a:ahLst/>
            <a:cxnLst/>
            <a:rect r="r" b="b" t="t" l="l"/>
            <a:pathLst>
              <a:path h="1760126" w="2304584">
                <a:moveTo>
                  <a:pt x="0" y="0"/>
                </a:moveTo>
                <a:lnTo>
                  <a:pt x="2304584" y="0"/>
                </a:lnTo>
                <a:lnTo>
                  <a:pt x="2304584" y="1760126"/>
                </a:lnTo>
                <a:lnTo>
                  <a:pt x="0" y="1760126"/>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grpSp>
        <p:nvGrpSpPr>
          <p:cNvPr name="Group 2" id="2"/>
          <p:cNvGrpSpPr/>
          <p:nvPr/>
        </p:nvGrpSpPr>
        <p:grpSpPr>
          <a:xfrm rot="0">
            <a:off x="1862173" y="4114244"/>
            <a:ext cx="4137001" cy="888605"/>
            <a:chOff x="0" y="0"/>
            <a:chExt cx="1470951" cy="315952"/>
          </a:xfrm>
        </p:grpSpPr>
        <p:sp>
          <p:nvSpPr>
            <p:cNvPr name="Freeform 3" id="3"/>
            <p:cNvSpPr/>
            <p:nvPr/>
          </p:nvSpPr>
          <p:spPr>
            <a:xfrm flipH="false" flipV="false" rot="0">
              <a:off x="0" y="0"/>
              <a:ext cx="1470951" cy="315952"/>
            </a:xfrm>
            <a:custGeom>
              <a:avLst/>
              <a:gdLst/>
              <a:ahLst/>
              <a:cxnLst/>
              <a:rect r="r" b="b" t="t" l="l"/>
              <a:pathLst>
                <a:path h="315952" w="1470951">
                  <a:moveTo>
                    <a:pt x="0" y="0"/>
                  </a:moveTo>
                  <a:lnTo>
                    <a:pt x="1470951" y="0"/>
                  </a:lnTo>
                  <a:lnTo>
                    <a:pt x="1470951" y="315952"/>
                  </a:lnTo>
                  <a:lnTo>
                    <a:pt x="0" y="315952"/>
                  </a:lnTo>
                  <a:close/>
                </a:path>
              </a:pathLst>
            </a:custGeom>
            <a:solidFill>
              <a:srgbClr val="094C69"/>
            </a:solidFill>
            <a:ln cap="sq">
              <a:noFill/>
              <a:prstDash val="solid"/>
              <a:miter/>
            </a:ln>
          </p:spPr>
        </p:sp>
        <p:sp>
          <p:nvSpPr>
            <p:cNvPr name="TextBox 4" id="4"/>
            <p:cNvSpPr txBox="true"/>
            <p:nvPr/>
          </p:nvSpPr>
          <p:spPr>
            <a:xfrm>
              <a:off x="0" y="-38100"/>
              <a:ext cx="1470951"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7142174" y="4114244"/>
            <a:ext cx="4137001" cy="888605"/>
            <a:chOff x="0" y="0"/>
            <a:chExt cx="1470951" cy="315952"/>
          </a:xfrm>
        </p:grpSpPr>
        <p:sp>
          <p:nvSpPr>
            <p:cNvPr name="Freeform 6" id="6"/>
            <p:cNvSpPr/>
            <p:nvPr/>
          </p:nvSpPr>
          <p:spPr>
            <a:xfrm flipH="false" flipV="false" rot="0">
              <a:off x="0" y="0"/>
              <a:ext cx="1470951" cy="315952"/>
            </a:xfrm>
            <a:custGeom>
              <a:avLst/>
              <a:gdLst/>
              <a:ahLst/>
              <a:cxnLst/>
              <a:rect r="r" b="b" t="t" l="l"/>
              <a:pathLst>
                <a:path h="315952" w="1470951">
                  <a:moveTo>
                    <a:pt x="0" y="0"/>
                  </a:moveTo>
                  <a:lnTo>
                    <a:pt x="1470951" y="0"/>
                  </a:lnTo>
                  <a:lnTo>
                    <a:pt x="1470951" y="315952"/>
                  </a:lnTo>
                  <a:lnTo>
                    <a:pt x="0" y="315952"/>
                  </a:lnTo>
                  <a:close/>
                </a:path>
              </a:pathLst>
            </a:custGeom>
            <a:solidFill>
              <a:srgbClr val="094C69"/>
            </a:solidFill>
            <a:ln cap="sq">
              <a:noFill/>
              <a:prstDash val="solid"/>
              <a:miter/>
            </a:ln>
          </p:spPr>
        </p:sp>
        <p:sp>
          <p:nvSpPr>
            <p:cNvPr name="TextBox 7" id="7"/>
            <p:cNvSpPr txBox="true"/>
            <p:nvPr/>
          </p:nvSpPr>
          <p:spPr>
            <a:xfrm>
              <a:off x="0" y="-38100"/>
              <a:ext cx="1470951"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2422176" y="4123632"/>
            <a:ext cx="4137001" cy="888605"/>
            <a:chOff x="0" y="0"/>
            <a:chExt cx="1470951" cy="315952"/>
          </a:xfrm>
        </p:grpSpPr>
        <p:sp>
          <p:nvSpPr>
            <p:cNvPr name="Freeform 9" id="9"/>
            <p:cNvSpPr/>
            <p:nvPr/>
          </p:nvSpPr>
          <p:spPr>
            <a:xfrm flipH="false" flipV="false" rot="0">
              <a:off x="0" y="0"/>
              <a:ext cx="1470951" cy="315952"/>
            </a:xfrm>
            <a:custGeom>
              <a:avLst/>
              <a:gdLst/>
              <a:ahLst/>
              <a:cxnLst/>
              <a:rect r="r" b="b" t="t" l="l"/>
              <a:pathLst>
                <a:path h="315952" w="1470951">
                  <a:moveTo>
                    <a:pt x="0" y="0"/>
                  </a:moveTo>
                  <a:lnTo>
                    <a:pt x="1470951" y="0"/>
                  </a:lnTo>
                  <a:lnTo>
                    <a:pt x="1470951" y="315952"/>
                  </a:lnTo>
                  <a:lnTo>
                    <a:pt x="0" y="315952"/>
                  </a:lnTo>
                  <a:close/>
                </a:path>
              </a:pathLst>
            </a:custGeom>
            <a:solidFill>
              <a:srgbClr val="094C69"/>
            </a:solidFill>
            <a:ln cap="sq">
              <a:noFill/>
              <a:prstDash val="solid"/>
              <a:miter/>
            </a:ln>
          </p:spPr>
        </p:sp>
        <p:sp>
          <p:nvSpPr>
            <p:cNvPr name="TextBox 10" id="10"/>
            <p:cNvSpPr txBox="true"/>
            <p:nvPr/>
          </p:nvSpPr>
          <p:spPr>
            <a:xfrm>
              <a:off x="0" y="-38100"/>
              <a:ext cx="1470951" cy="35405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3102763" y="1739529"/>
            <a:ext cx="1661116" cy="2025529"/>
          </a:xfrm>
          <a:custGeom>
            <a:avLst/>
            <a:gdLst/>
            <a:ahLst/>
            <a:cxnLst/>
            <a:rect r="r" b="b" t="t" l="l"/>
            <a:pathLst>
              <a:path h="2025529" w="1661116">
                <a:moveTo>
                  <a:pt x="0" y="0"/>
                </a:moveTo>
                <a:lnTo>
                  <a:pt x="1661116" y="0"/>
                </a:lnTo>
                <a:lnTo>
                  <a:pt x="1661116" y="2025529"/>
                </a:lnTo>
                <a:lnTo>
                  <a:pt x="0" y="2025529"/>
                </a:lnTo>
                <a:lnTo>
                  <a:pt x="0" y="0"/>
                </a:lnTo>
                <a:close/>
              </a:path>
            </a:pathLst>
          </a:custGeom>
          <a:blipFill>
            <a:blip r:embed="rId2"/>
            <a:stretch>
              <a:fillRect l="0" t="0" r="0" b="0"/>
            </a:stretch>
          </a:blipFill>
        </p:spPr>
      </p:sp>
      <p:sp>
        <p:nvSpPr>
          <p:cNvPr name="Freeform 12" id="12"/>
          <p:cNvSpPr/>
          <p:nvPr/>
        </p:nvSpPr>
        <p:spPr>
          <a:xfrm flipH="false" flipV="false" rot="0">
            <a:off x="13539010" y="2267002"/>
            <a:ext cx="1903161" cy="1572177"/>
          </a:xfrm>
          <a:custGeom>
            <a:avLst/>
            <a:gdLst/>
            <a:ahLst/>
            <a:cxnLst/>
            <a:rect r="r" b="b" t="t" l="l"/>
            <a:pathLst>
              <a:path h="1572177" w="1903161">
                <a:moveTo>
                  <a:pt x="0" y="0"/>
                </a:moveTo>
                <a:lnTo>
                  <a:pt x="1903162" y="0"/>
                </a:lnTo>
                <a:lnTo>
                  <a:pt x="1903162" y="1572177"/>
                </a:lnTo>
                <a:lnTo>
                  <a:pt x="0" y="1572177"/>
                </a:lnTo>
                <a:lnTo>
                  <a:pt x="0" y="0"/>
                </a:lnTo>
                <a:close/>
              </a:path>
            </a:pathLst>
          </a:custGeom>
          <a:blipFill>
            <a:blip r:embed="rId3"/>
            <a:stretch>
              <a:fillRect l="0" t="0" r="0" b="0"/>
            </a:stretch>
          </a:blipFill>
        </p:spPr>
      </p:sp>
      <p:sp>
        <p:nvSpPr>
          <p:cNvPr name="Freeform 13" id="13"/>
          <p:cNvSpPr/>
          <p:nvPr/>
        </p:nvSpPr>
        <p:spPr>
          <a:xfrm flipH="false" flipV="false" rot="0">
            <a:off x="8104354" y="1857861"/>
            <a:ext cx="1882600" cy="1821590"/>
          </a:xfrm>
          <a:custGeom>
            <a:avLst/>
            <a:gdLst/>
            <a:ahLst/>
            <a:cxnLst/>
            <a:rect r="r" b="b" t="t" l="l"/>
            <a:pathLst>
              <a:path h="1821590" w="1882600">
                <a:moveTo>
                  <a:pt x="0" y="0"/>
                </a:moveTo>
                <a:lnTo>
                  <a:pt x="1882601" y="0"/>
                </a:lnTo>
                <a:lnTo>
                  <a:pt x="1882601" y="1821590"/>
                </a:lnTo>
                <a:lnTo>
                  <a:pt x="0" y="1821590"/>
                </a:lnTo>
                <a:lnTo>
                  <a:pt x="0" y="0"/>
                </a:lnTo>
                <a:close/>
              </a:path>
            </a:pathLst>
          </a:custGeom>
          <a:blipFill>
            <a:blip r:embed="rId4"/>
            <a:stretch>
              <a:fillRect l="0" t="0" r="0" b="0"/>
            </a:stretch>
          </a:blipFill>
        </p:spPr>
      </p:sp>
      <p:sp>
        <p:nvSpPr>
          <p:cNvPr name="TextBox 14" id="14"/>
          <p:cNvSpPr txBox="true"/>
          <p:nvPr/>
        </p:nvSpPr>
        <p:spPr>
          <a:xfrm rot="0">
            <a:off x="2055146" y="4281110"/>
            <a:ext cx="3751055" cy="543043"/>
          </a:xfrm>
          <a:prstGeom prst="rect">
            <a:avLst/>
          </a:prstGeom>
        </p:spPr>
        <p:txBody>
          <a:bodyPr anchor="t" rtlCol="false" tIns="0" lIns="0" bIns="0" rIns="0">
            <a:spAutoFit/>
          </a:bodyPr>
          <a:lstStyle/>
          <a:p>
            <a:pPr algn="ctr" marL="0" indent="0" lvl="0">
              <a:lnSpc>
                <a:spcPts val="4292"/>
              </a:lnSpc>
              <a:spcBef>
                <a:spcPct val="0"/>
              </a:spcBef>
            </a:pPr>
            <a:r>
              <a:rPr lang="en-US" sz="3765">
                <a:solidFill>
                  <a:srgbClr val="FFFFFF"/>
                </a:solidFill>
                <a:latin typeface="TT Ramillas"/>
                <a:ea typeface="TT Ramillas"/>
                <a:cs typeface="TT Ramillas"/>
                <a:sym typeface="TT Ramillas"/>
              </a:rPr>
              <a:t>POLÍTICO</a:t>
            </a:r>
          </a:p>
        </p:txBody>
      </p:sp>
      <p:sp>
        <p:nvSpPr>
          <p:cNvPr name="TextBox 15" id="15"/>
          <p:cNvSpPr txBox="true"/>
          <p:nvPr/>
        </p:nvSpPr>
        <p:spPr>
          <a:xfrm rot="0">
            <a:off x="1862173" y="5398854"/>
            <a:ext cx="4137001" cy="2513638"/>
          </a:xfrm>
          <a:prstGeom prst="rect">
            <a:avLst/>
          </a:prstGeom>
        </p:spPr>
        <p:txBody>
          <a:bodyPr anchor="t" rtlCol="false" tIns="0" lIns="0" bIns="0" rIns="0">
            <a:spAutoFit/>
          </a:bodyPr>
          <a:lstStyle/>
          <a:p>
            <a:pPr algn="l" marL="0" indent="0" lvl="0">
              <a:lnSpc>
                <a:spcPts val="2885"/>
              </a:lnSpc>
              <a:spcBef>
                <a:spcPct val="0"/>
              </a:spcBef>
            </a:pPr>
            <a:r>
              <a:rPr lang="en-US" sz="1898" strike="noStrike" u="none">
                <a:solidFill>
                  <a:srgbClr val="000000"/>
                </a:solidFill>
                <a:latin typeface="TT Ramillas"/>
                <a:ea typeface="TT Ramillas"/>
                <a:cs typeface="TT Ramillas"/>
                <a:sym typeface="TT Ramillas"/>
              </a:rPr>
              <a:t>Políticas gubernamentales de transformación digital educativa impulsan la adopción de tecnologías innovadoras en instituciones de educación superior, favoreciendo soluciones como el Plugin Feedback Canvas.</a:t>
            </a:r>
          </a:p>
        </p:txBody>
      </p:sp>
      <p:sp>
        <p:nvSpPr>
          <p:cNvPr name="TextBox 16" id="16"/>
          <p:cNvSpPr txBox="true"/>
          <p:nvPr/>
        </p:nvSpPr>
        <p:spPr>
          <a:xfrm rot="0">
            <a:off x="7356046" y="4288072"/>
            <a:ext cx="3709257" cy="543043"/>
          </a:xfrm>
          <a:prstGeom prst="rect">
            <a:avLst/>
          </a:prstGeom>
        </p:spPr>
        <p:txBody>
          <a:bodyPr anchor="t" rtlCol="false" tIns="0" lIns="0" bIns="0" rIns="0">
            <a:spAutoFit/>
          </a:bodyPr>
          <a:lstStyle/>
          <a:p>
            <a:pPr algn="ctr" marL="0" indent="0" lvl="0">
              <a:lnSpc>
                <a:spcPts val="4292"/>
              </a:lnSpc>
              <a:spcBef>
                <a:spcPct val="0"/>
              </a:spcBef>
            </a:pPr>
            <a:r>
              <a:rPr lang="en-US" sz="3765">
                <a:solidFill>
                  <a:srgbClr val="FFFFFF"/>
                </a:solidFill>
                <a:latin typeface="TT Ramillas"/>
                <a:ea typeface="TT Ramillas"/>
                <a:cs typeface="TT Ramillas"/>
                <a:sym typeface="TT Ramillas"/>
              </a:rPr>
              <a:t>ECONÓMICO</a:t>
            </a:r>
          </a:p>
        </p:txBody>
      </p:sp>
      <p:sp>
        <p:nvSpPr>
          <p:cNvPr name="TextBox 17" id="17"/>
          <p:cNvSpPr txBox="true"/>
          <p:nvPr/>
        </p:nvSpPr>
        <p:spPr>
          <a:xfrm rot="0">
            <a:off x="7142174" y="5398854"/>
            <a:ext cx="4137001" cy="2151688"/>
          </a:xfrm>
          <a:prstGeom prst="rect">
            <a:avLst/>
          </a:prstGeom>
        </p:spPr>
        <p:txBody>
          <a:bodyPr anchor="t" rtlCol="false" tIns="0" lIns="0" bIns="0" rIns="0">
            <a:spAutoFit/>
          </a:bodyPr>
          <a:lstStyle/>
          <a:p>
            <a:pPr algn="l" marL="0" indent="0" lvl="0">
              <a:lnSpc>
                <a:spcPts val="2885"/>
              </a:lnSpc>
              <a:spcBef>
                <a:spcPct val="0"/>
              </a:spcBef>
            </a:pPr>
            <a:r>
              <a:rPr lang="en-US" sz="1898" strike="noStrike" u="none">
                <a:solidFill>
                  <a:srgbClr val="000000"/>
                </a:solidFill>
                <a:latin typeface="TT Ramillas"/>
                <a:ea typeface="TT Ramillas"/>
                <a:cs typeface="TT Ramillas"/>
                <a:sym typeface="TT Ramillas"/>
              </a:rPr>
              <a:t>La deserción estudiantil genera altos costos institucionales. Un sistema de feedback adaptativo permite intervención temprana, reduciendo tasas de abandono y optimizando recursos académicos.</a:t>
            </a:r>
          </a:p>
        </p:txBody>
      </p:sp>
      <p:sp>
        <p:nvSpPr>
          <p:cNvPr name="TextBox 18" id="18"/>
          <p:cNvSpPr txBox="true"/>
          <p:nvPr/>
        </p:nvSpPr>
        <p:spPr>
          <a:xfrm rot="0">
            <a:off x="12714442" y="4290498"/>
            <a:ext cx="3552468" cy="583427"/>
          </a:xfrm>
          <a:prstGeom prst="rect">
            <a:avLst/>
          </a:prstGeom>
        </p:spPr>
        <p:txBody>
          <a:bodyPr anchor="t" rtlCol="false" tIns="0" lIns="0" bIns="0" rIns="0">
            <a:spAutoFit/>
          </a:bodyPr>
          <a:lstStyle/>
          <a:p>
            <a:pPr algn="ctr" marL="0" indent="0" lvl="0">
              <a:lnSpc>
                <a:spcPts val="4634"/>
              </a:lnSpc>
              <a:spcBef>
                <a:spcPct val="0"/>
              </a:spcBef>
            </a:pPr>
            <a:r>
              <a:rPr lang="en-US" sz="4065">
                <a:solidFill>
                  <a:srgbClr val="FFFFFF"/>
                </a:solidFill>
                <a:latin typeface="TT Ramillas"/>
                <a:ea typeface="TT Ramillas"/>
                <a:cs typeface="TT Ramillas"/>
                <a:sym typeface="TT Ramillas"/>
              </a:rPr>
              <a:t>SOCIAL</a:t>
            </a:r>
          </a:p>
        </p:txBody>
      </p:sp>
      <p:sp>
        <p:nvSpPr>
          <p:cNvPr name="TextBox 19" id="19"/>
          <p:cNvSpPr txBox="true"/>
          <p:nvPr/>
        </p:nvSpPr>
        <p:spPr>
          <a:xfrm rot="0">
            <a:off x="12422176" y="5446479"/>
            <a:ext cx="4137001" cy="2151688"/>
          </a:xfrm>
          <a:prstGeom prst="rect">
            <a:avLst/>
          </a:prstGeom>
        </p:spPr>
        <p:txBody>
          <a:bodyPr anchor="t" rtlCol="false" tIns="0" lIns="0" bIns="0" rIns="0">
            <a:spAutoFit/>
          </a:bodyPr>
          <a:lstStyle/>
          <a:p>
            <a:pPr algn="l" marL="0" indent="0" lvl="0">
              <a:lnSpc>
                <a:spcPts val="2885"/>
              </a:lnSpc>
              <a:spcBef>
                <a:spcPct val="0"/>
              </a:spcBef>
            </a:pPr>
            <a:r>
              <a:rPr lang="en-US" sz="1898" strike="noStrike" u="none">
                <a:solidFill>
                  <a:srgbClr val="000000"/>
                </a:solidFill>
                <a:latin typeface="TT Ramillas"/>
                <a:ea typeface="TT Ramillas"/>
                <a:cs typeface="TT Ramillas"/>
                <a:sym typeface="TT Ramillas"/>
              </a:rPr>
              <a:t>Creciente demanda estudiantil por apoyo académico personalizado y retroalimentación oportuna. Las nuevas generaciones esperan experiencias educativas adaptadas a sus necesidades individuales.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grpSp>
        <p:nvGrpSpPr>
          <p:cNvPr name="Group 2" id="2"/>
          <p:cNvGrpSpPr/>
          <p:nvPr/>
        </p:nvGrpSpPr>
        <p:grpSpPr>
          <a:xfrm rot="0">
            <a:off x="1862173" y="4114244"/>
            <a:ext cx="4137001" cy="888605"/>
            <a:chOff x="0" y="0"/>
            <a:chExt cx="1470951" cy="315952"/>
          </a:xfrm>
        </p:grpSpPr>
        <p:sp>
          <p:nvSpPr>
            <p:cNvPr name="Freeform 3" id="3"/>
            <p:cNvSpPr/>
            <p:nvPr/>
          </p:nvSpPr>
          <p:spPr>
            <a:xfrm flipH="false" flipV="false" rot="0">
              <a:off x="0" y="0"/>
              <a:ext cx="1470951" cy="315952"/>
            </a:xfrm>
            <a:custGeom>
              <a:avLst/>
              <a:gdLst/>
              <a:ahLst/>
              <a:cxnLst/>
              <a:rect r="r" b="b" t="t" l="l"/>
              <a:pathLst>
                <a:path h="315952" w="1470951">
                  <a:moveTo>
                    <a:pt x="0" y="0"/>
                  </a:moveTo>
                  <a:lnTo>
                    <a:pt x="1470951" y="0"/>
                  </a:lnTo>
                  <a:lnTo>
                    <a:pt x="1470951" y="315952"/>
                  </a:lnTo>
                  <a:lnTo>
                    <a:pt x="0" y="315952"/>
                  </a:lnTo>
                  <a:close/>
                </a:path>
              </a:pathLst>
            </a:custGeom>
            <a:solidFill>
              <a:srgbClr val="094C69"/>
            </a:solidFill>
            <a:ln cap="sq">
              <a:noFill/>
              <a:prstDash val="solid"/>
              <a:miter/>
            </a:ln>
          </p:spPr>
        </p:sp>
        <p:sp>
          <p:nvSpPr>
            <p:cNvPr name="TextBox 4" id="4"/>
            <p:cNvSpPr txBox="true"/>
            <p:nvPr/>
          </p:nvSpPr>
          <p:spPr>
            <a:xfrm>
              <a:off x="0" y="-38100"/>
              <a:ext cx="1470951"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7142174" y="4114244"/>
            <a:ext cx="4137001" cy="888605"/>
            <a:chOff x="0" y="0"/>
            <a:chExt cx="1470951" cy="315952"/>
          </a:xfrm>
        </p:grpSpPr>
        <p:sp>
          <p:nvSpPr>
            <p:cNvPr name="Freeform 6" id="6"/>
            <p:cNvSpPr/>
            <p:nvPr/>
          </p:nvSpPr>
          <p:spPr>
            <a:xfrm flipH="false" flipV="false" rot="0">
              <a:off x="0" y="0"/>
              <a:ext cx="1470951" cy="315952"/>
            </a:xfrm>
            <a:custGeom>
              <a:avLst/>
              <a:gdLst/>
              <a:ahLst/>
              <a:cxnLst/>
              <a:rect r="r" b="b" t="t" l="l"/>
              <a:pathLst>
                <a:path h="315952" w="1470951">
                  <a:moveTo>
                    <a:pt x="0" y="0"/>
                  </a:moveTo>
                  <a:lnTo>
                    <a:pt x="1470951" y="0"/>
                  </a:lnTo>
                  <a:lnTo>
                    <a:pt x="1470951" y="315952"/>
                  </a:lnTo>
                  <a:lnTo>
                    <a:pt x="0" y="315952"/>
                  </a:lnTo>
                  <a:close/>
                </a:path>
              </a:pathLst>
            </a:custGeom>
            <a:solidFill>
              <a:srgbClr val="094C69"/>
            </a:solidFill>
            <a:ln cap="sq">
              <a:noFill/>
              <a:prstDash val="solid"/>
              <a:miter/>
            </a:ln>
          </p:spPr>
        </p:sp>
        <p:sp>
          <p:nvSpPr>
            <p:cNvPr name="TextBox 7" id="7"/>
            <p:cNvSpPr txBox="true"/>
            <p:nvPr/>
          </p:nvSpPr>
          <p:spPr>
            <a:xfrm>
              <a:off x="0" y="-38100"/>
              <a:ext cx="1470951"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2422176" y="4123632"/>
            <a:ext cx="4137001" cy="888605"/>
            <a:chOff x="0" y="0"/>
            <a:chExt cx="1470951" cy="315952"/>
          </a:xfrm>
        </p:grpSpPr>
        <p:sp>
          <p:nvSpPr>
            <p:cNvPr name="Freeform 9" id="9"/>
            <p:cNvSpPr/>
            <p:nvPr/>
          </p:nvSpPr>
          <p:spPr>
            <a:xfrm flipH="false" flipV="false" rot="0">
              <a:off x="0" y="0"/>
              <a:ext cx="1470951" cy="315952"/>
            </a:xfrm>
            <a:custGeom>
              <a:avLst/>
              <a:gdLst/>
              <a:ahLst/>
              <a:cxnLst/>
              <a:rect r="r" b="b" t="t" l="l"/>
              <a:pathLst>
                <a:path h="315952" w="1470951">
                  <a:moveTo>
                    <a:pt x="0" y="0"/>
                  </a:moveTo>
                  <a:lnTo>
                    <a:pt x="1470951" y="0"/>
                  </a:lnTo>
                  <a:lnTo>
                    <a:pt x="1470951" y="315952"/>
                  </a:lnTo>
                  <a:lnTo>
                    <a:pt x="0" y="315952"/>
                  </a:lnTo>
                  <a:close/>
                </a:path>
              </a:pathLst>
            </a:custGeom>
            <a:solidFill>
              <a:srgbClr val="094C69"/>
            </a:solidFill>
            <a:ln cap="sq">
              <a:noFill/>
              <a:prstDash val="solid"/>
              <a:miter/>
            </a:ln>
          </p:spPr>
        </p:sp>
        <p:sp>
          <p:nvSpPr>
            <p:cNvPr name="TextBox 10" id="10"/>
            <p:cNvSpPr txBox="true"/>
            <p:nvPr/>
          </p:nvSpPr>
          <p:spPr>
            <a:xfrm>
              <a:off x="0" y="-38100"/>
              <a:ext cx="1470951" cy="35405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3063009" y="2157621"/>
            <a:ext cx="1732858" cy="1708706"/>
          </a:xfrm>
          <a:custGeom>
            <a:avLst/>
            <a:gdLst/>
            <a:ahLst/>
            <a:cxnLst/>
            <a:rect r="r" b="b" t="t" l="l"/>
            <a:pathLst>
              <a:path h="1708706" w="1732858">
                <a:moveTo>
                  <a:pt x="0" y="0"/>
                </a:moveTo>
                <a:lnTo>
                  <a:pt x="1732858" y="0"/>
                </a:lnTo>
                <a:lnTo>
                  <a:pt x="1732858" y="1708706"/>
                </a:lnTo>
                <a:lnTo>
                  <a:pt x="0" y="1708706"/>
                </a:lnTo>
                <a:lnTo>
                  <a:pt x="0" y="0"/>
                </a:lnTo>
                <a:close/>
              </a:path>
            </a:pathLst>
          </a:custGeom>
          <a:blipFill>
            <a:blip r:embed="rId2"/>
            <a:stretch>
              <a:fillRect l="0" t="0" r="0" b="0"/>
            </a:stretch>
          </a:blipFill>
        </p:spPr>
      </p:sp>
      <p:sp>
        <p:nvSpPr>
          <p:cNvPr name="Freeform 12" id="12"/>
          <p:cNvSpPr/>
          <p:nvPr/>
        </p:nvSpPr>
        <p:spPr>
          <a:xfrm flipH="false" flipV="false" rot="0">
            <a:off x="13696583" y="2200125"/>
            <a:ext cx="1564453" cy="1919531"/>
          </a:xfrm>
          <a:custGeom>
            <a:avLst/>
            <a:gdLst/>
            <a:ahLst/>
            <a:cxnLst/>
            <a:rect r="r" b="b" t="t" l="l"/>
            <a:pathLst>
              <a:path h="1919531" w="1564453">
                <a:moveTo>
                  <a:pt x="0" y="0"/>
                </a:moveTo>
                <a:lnTo>
                  <a:pt x="1564454" y="0"/>
                </a:lnTo>
                <a:lnTo>
                  <a:pt x="1564454" y="1919532"/>
                </a:lnTo>
                <a:lnTo>
                  <a:pt x="0" y="1919532"/>
                </a:lnTo>
                <a:lnTo>
                  <a:pt x="0" y="0"/>
                </a:lnTo>
                <a:close/>
              </a:path>
            </a:pathLst>
          </a:custGeom>
          <a:blipFill>
            <a:blip r:embed="rId3"/>
            <a:stretch>
              <a:fillRect l="0" t="0" r="0" b="0"/>
            </a:stretch>
          </a:blipFill>
        </p:spPr>
      </p:sp>
      <p:sp>
        <p:nvSpPr>
          <p:cNvPr name="Freeform 13" id="13"/>
          <p:cNvSpPr/>
          <p:nvPr/>
        </p:nvSpPr>
        <p:spPr>
          <a:xfrm flipH="false" flipV="false" rot="0">
            <a:off x="8383280" y="1809734"/>
            <a:ext cx="1637373" cy="2383822"/>
          </a:xfrm>
          <a:custGeom>
            <a:avLst/>
            <a:gdLst/>
            <a:ahLst/>
            <a:cxnLst/>
            <a:rect r="r" b="b" t="t" l="l"/>
            <a:pathLst>
              <a:path h="2383822" w="1637373">
                <a:moveTo>
                  <a:pt x="0" y="0"/>
                </a:moveTo>
                <a:lnTo>
                  <a:pt x="1637373" y="0"/>
                </a:lnTo>
                <a:lnTo>
                  <a:pt x="1637373" y="2383822"/>
                </a:lnTo>
                <a:lnTo>
                  <a:pt x="0" y="2383822"/>
                </a:lnTo>
                <a:lnTo>
                  <a:pt x="0" y="0"/>
                </a:lnTo>
                <a:close/>
              </a:path>
            </a:pathLst>
          </a:custGeom>
          <a:blipFill>
            <a:blip r:embed="rId4"/>
            <a:stretch>
              <a:fillRect l="0" t="0" r="0" b="0"/>
            </a:stretch>
          </a:blipFill>
        </p:spPr>
      </p:sp>
      <p:sp>
        <p:nvSpPr>
          <p:cNvPr name="TextBox 14" id="14"/>
          <p:cNvSpPr txBox="true"/>
          <p:nvPr/>
        </p:nvSpPr>
        <p:spPr>
          <a:xfrm rot="0">
            <a:off x="2055146" y="4281110"/>
            <a:ext cx="3751055" cy="543043"/>
          </a:xfrm>
          <a:prstGeom prst="rect">
            <a:avLst/>
          </a:prstGeom>
        </p:spPr>
        <p:txBody>
          <a:bodyPr anchor="t" rtlCol="false" tIns="0" lIns="0" bIns="0" rIns="0">
            <a:spAutoFit/>
          </a:bodyPr>
          <a:lstStyle/>
          <a:p>
            <a:pPr algn="ctr" marL="0" indent="0" lvl="0">
              <a:lnSpc>
                <a:spcPts val="4292"/>
              </a:lnSpc>
              <a:spcBef>
                <a:spcPct val="0"/>
              </a:spcBef>
            </a:pPr>
            <a:r>
              <a:rPr lang="en-US" sz="3765">
                <a:solidFill>
                  <a:srgbClr val="FFFFFF"/>
                </a:solidFill>
                <a:latin typeface="TT Ramillas"/>
                <a:ea typeface="TT Ramillas"/>
                <a:cs typeface="TT Ramillas"/>
                <a:sym typeface="TT Ramillas"/>
              </a:rPr>
              <a:t>TECNOLÓGICO</a:t>
            </a:r>
          </a:p>
        </p:txBody>
      </p:sp>
      <p:sp>
        <p:nvSpPr>
          <p:cNvPr name="TextBox 15" id="15"/>
          <p:cNvSpPr txBox="true"/>
          <p:nvPr/>
        </p:nvSpPr>
        <p:spPr>
          <a:xfrm rot="0">
            <a:off x="1862173" y="5398854"/>
            <a:ext cx="4137001" cy="2513638"/>
          </a:xfrm>
          <a:prstGeom prst="rect">
            <a:avLst/>
          </a:prstGeom>
        </p:spPr>
        <p:txBody>
          <a:bodyPr anchor="t" rtlCol="false" tIns="0" lIns="0" bIns="0" rIns="0">
            <a:spAutoFit/>
          </a:bodyPr>
          <a:lstStyle/>
          <a:p>
            <a:pPr algn="l" marL="0" indent="0" lvl="0">
              <a:lnSpc>
                <a:spcPts val="2885"/>
              </a:lnSpc>
              <a:spcBef>
                <a:spcPct val="0"/>
              </a:spcBef>
            </a:pPr>
            <a:r>
              <a:rPr lang="en-US" sz="1898" strike="noStrike" u="none">
                <a:solidFill>
                  <a:srgbClr val="000000"/>
                </a:solidFill>
                <a:latin typeface="TT Ramillas"/>
                <a:ea typeface="TT Ramillas"/>
                <a:cs typeface="TT Ramillas"/>
                <a:sym typeface="TT Ramillas"/>
              </a:rPr>
              <a:t>Madurez tecnológica favorable: LTI 1.3 como estándar consolidado para integración LMS, APIs REST robustas de Canvas, y avances significativos en IA generativa permiten implementar soluciones de feedback automatizado con alta calidad y confiabilidad.</a:t>
            </a:r>
          </a:p>
        </p:txBody>
      </p:sp>
      <p:sp>
        <p:nvSpPr>
          <p:cNvPr name="TextBox 16" id="16"/>
          <p:cNvSpPr txBox="true"/>
          <p:nvPr/>
        </p:nvSpPr>
        <p:spPr>
          <a:xfrm rot="0">
            <a:off x="7356046" y="4288072"/>
            <a:ext cx="3709257" cy="543043"/>
          </a:xfrm>
          <a:prstGeom prst="rect">
            <a:avLst/>
          </a:prstGeom>
        </p:spPr>
        <p:txBody>
          <a:bodyPr anchor="t" rtlCol="false" tIns="0" lIns="0" bIns="0" rIns="0">
            <a:spAutoFit/>
          </a:bodyPr>
          <a:lstStyle/>
          <a:p>
            <a:pPr algn="ctr" marL="0" indent="0" lvl="0">
              <a:lnSpc>
                <a:spcPts val="4292"/>
              </a:lnSpc>
              <a:spcBef>
                <a:spcPct val="0"/>
              </a:spcBef>
            </a:pPr>
            <a:r>
              <a:rPr lang="en-US" sz="3765">
                <a:solidFill>
                  <a:srgbClr val="FFFFFF"/>
                </a:solidFill>
                <a:latin typeface="TT Ramillas"/>
                <a:ea typeface="TT Ramillas"/>
                <a:cs typeface="TT Ramillas"/>
                <a:sym typeface="TT Ramillas"/>
              </a:rPr>
              <a:t>ECOLÓGICO</a:t>
            </a:r>
          </a:p>
        </p:txBody>
      </p:sp>
      <p:sp>
        <p:nvSpPr>
          <p:cNvPr name="TextBox 17" id="17"/>
          <p:cNvSpPr txBox="true"/>
          <p:nvPr/>
        </p:nvSpPr>
        <p:spPr>
          <a:xfrm rot="0">
            <a:off x="7142174" y="5398854"/>
            <a:ext cx="4137001" cy="2513638"/>
          </a:xfrm>
          <a:prstGeom prst="rect">
            <a:avLst/>
          </a:prstGeom>
        </p:spPr>
        <p:txBody>
          <a:bodyPr anchor="t" rtlCol="false" tIns="0" lIns="0" bIns="0" rIns="0">
            <a:spAutoFit/>
          </a:bodyPr>
          <a:lstStyle/>
          <a:p>
            <a:pPr algn="l" marL="0" indent="0" lvl="0">
              <a:lnSpc>
                <a:spcPts val="2885"/>
              </a:lnSpc>
              <a:spcBef>
                <a:spcPct val="0"/>
              </a:spcBef>
            </a:pPr>
            <a:r>
              <a:rPr lang="en-US" sz="1898" strike="noStrike" u="none">
                <a:solidFill>
                  <a:srgbClr val="000000"/>
                </a:solidFill>
                <a:latin typeface="TT Ramillas"/>
                <a:ea typeface="TT Ramillas"/>
                <a:cs typeface="TT Ramillas"/>
                <a:sym typeface="TT Ramillas"/>
              </a:rPr>
              <a:t>La digitalización del feedback reduce significativamente el uso de papel y recursos físicos. Menor huella de carbono al eliminar procesos manuales impresos y optimizar la comunicación académica mediante canales digitales eficientes.</a:t>
            </a:r>
          </a:p>
        </p:txBody>
      </p:sp>
      <p:sp>
        <p:nvSpPr>
          <p:cNvPr name="TextBox 18" id="18"/>
          <p:cNvSpPr txBox="true"/>
          <p:nvPr/>
        </p:nvSpPr>
        <p:spPr>
          <a:xfrm rot="0">
            <a:off x="12714442" y="4290498"/>
            <a:ext cx="3552468" cy="583427"/>
          </a:xfrm>
          <a:prstGeom prst="rect">
            <a:avLst/>
          </a:prstGeom>
        </p:spPr>
        <p:txBody>
          <a:bodyPr anchor="t" rtlCol="false" tIns="0" lIns="0" bIns="0" rIns="0">
            <a:spAutoFit/>
          </a:bodyPr>
          <a:lstStyle/>
          <a:p>
            <a:pPr algn="ctr" marL="0" indent="0" lvl="0">
              <a:lnSpc>
                <a:spcPts val="4634"/>
              </a:lnSpc>
              <a:spcBef>
                <a:spcPct val="0"/>
              </a:spcBef>
            </a:pPr>
            <a:r>
              <a:rPr lang="en-US" sz="4065">
                <a:solidFill>
                  <a:srgbClr val="FFFFFF"/>
                </a:solidFill>
                <a:latin typeface="TT Ramillas"/>
                <a:ea typeface="TT Ramillas"/>
                <a:cs typeface="TT Ramillas"/>
                <a:sym typeface="TT Ramillas"/>
              </a:rPr>
              <a:t>LEGAL</a:t>
            </a:r>
          </a:p>
        </p:txBody>
      </p:sp>
      <p:sp>
        <p:nvSpPr>
          <p:cNvPr name="TextBox 19" id="19"/>
          <p:cNvSpPr txBox="true"/>
          <p:nvPr/>
        </p:nvSpPr>
        <p:spPr>
          <a:xfrm rot="0">
            <a:off x="12422176" y="5446479"/>
            <a:ext cx="4137001" cy="2513638"/>
          </a:xfrm>
          <a:prstGeom prst="rect">
            <a:avLst/>
          </a:prstGeom>
        </p:spPr>
        <p:txBody>
          <a:bodyPr anchor="t" rtlCol="false" tIns="0" lIns="0" bIns="0" rIns="0">
            <a:spAutoFit/>
          </a:bodyPr>
          <a:lstStyle/>
          <a:p>
            <a:pPr algn="l" marL="0" indent="0" lvl="0">
              <a:lnSpc>
                <a:spcPts val="2885"/>
              </a:lnSpc>
              <a:spcBef>
                <a:spcPct val="0"/>
              </a:spcBef>
            </a:pPr>
            <a:r>
              <a:rPr lang="en-US" sz="1898" strike="noStrike" u="none">
                <a:solidFill>
                  <a:srgbClr val="000000"/>
                </a:solidFill>
                <a:latin typeface="TT Ramillas"/>
                <a:ea typeface="TT Ramillas"/>
                <a:cs typeface="TT Ramillas"/>
                <a:sym typeface="TT Ramillas"/>
              </a:rPr>
              <a:t>Ley 21.719 de Protección de Datos Personales (vigencia 2026) establece nuevos estándares de cumplimiento. El plugin se diseña con privacidad por defecto, consentimiento informado y medidas de seguridad alineadas con la normativa chilena.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grpSp>
        <p:nvGrpSpPr>
          <p:cNvPr name="Group 2" id="2"/>
          <p:cNvGrpSpPr/>
          <p:nvPr/>
        </p:nvGrpSpPr>
        <p:grpSpPr>
          <a:xfrm rot="0">
            <a:off x="3343698" y="4112361"/>
            <a:ext cx="5227663" cy="888605"/>
            <a:chOff x="0" y="0"/>
            <a:chExt cx="1858746" cy="315952"/>
          </a:xfrm>
        </p:grpSpPr>
        <p:sp>
          <p:nvSpPr>
            <p:cNvPr name="Freeform 3" id="3"/>
            <p:cNvSpPr/>
            <p:nvPr/>
          </p:nvSpPr>
          <p:spPr>
            <a:xfrm flipH="false" flipV="false" rot="0">
              <a:off x="0" y="0"/>
              <a:ext cx="1858746" cy="315952"/>
            </a:xfrm>
            <a:custGeom>
              <a:avLst/>
              <a:gdLst/>
              <a:ahLst/>
              <a:cxnLst/>
              <a:rect r="r" b="b" t="t" l="l"/>
              <a:pathLst>
                <a:path h="315952" w="1858746">
                  <a:moveTo>
                    <a:pt x="0" y="0"/>
                  </a:moveTo>
                  <a:lnTo>
                    <a:pt x="1858746" y="0"/>
                  </a:lnTo>
                  <a:lnTo>
                    <a:pt x="1858746" y="315952"/>
                  </a:lnTo>
                  <a:lnTo>
                    <a:pt x="0" y="315952"/>
                  </a:lnTo>
                  <a:close/>
                </a:path>
              </a:pathLst>
            </a:custGeom>
            <a:solidFill>
              <a:srgbClr val="094C69"/>
            </a:solidFill>
            <a:ln cap="sq">
              <a:noFill/>
              <a:prstDash val="solid"/>
              <a:miter/>
            </a:ln>
          </p:spPr>
        </p:sp>
        <p:sp>
          <p:nvSpPr>
            <p:cNvPr name="TextBox 4" id="4"/>
            <p:cNvSpPr txBox="true"/>
            <p:nvPr/>
          </p:nvSpPr>
          <p:spPr>
            <a:xfrm>
              <a:off x="0" y="-38100"/>
              <a:ext cx="1858746"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9741579" y="4112361"/>
            <a:ext cx="5227663" cy="888605"/>
            <a:chOff x="0" y="0"/>
            <a:chExt cx="1858746" cy="315952"/>
          </a:xfrm>
        </p:grpSpPr>
        <p:sp>
          <p:nvSpPr>
            <p:cNvPr name="Freeform 6" id="6"/>
            <p:cNvSpPr/>
            <p:nvPr/>
          </p:nvSpPr>
          <p:spPr>
            <a:xfrm flipH="false" flipV="false" rot="0">
              <a:off x="0" y="0"/>
              <a:ext cx="1858746" cy="315952"/>
            </a:xfrm>
            <a:custGeom>
              <a:avLst/>
              <a:gdLst/>
              <a:ahLst/>
              <a:cxnLst/>
              <a:rect r="r" b="b" t="t" l="l"/>
              <a:pathLst>
                <a:path h="315952" w="1858746">
                  <a:moveTo>
                    <a:pt x="0" y="0"/>
                  </a:moveTo>
                  <a:lnTo>
                    <a:pt x="1858746" y="0"/>
                  </a:lnTo>
                  <a:lnTo>
                    <a:pt x="1858746" y="315952"/>
                  </a:lnTo>
                  <a:lnTo>
                    <a:pt x="0" y="315952"/>
                  </a:lnTo>
                  <a:close/>
                </a:path>
              </a:pathLst>
            </a:custGeom>
            <a:solidFill>
              <a:srgbClr val="094C69"/>
            </a:solidFill>
            <a:ln cap="sq">
              <a:noFill/>
              <a:prstDash val="solid"/>
              <a:miter/>
            </a:ln>
          </p:spPr>
        </p:sp>
        <p:sp>
          <p:nvSpPr>
            <p:cNvPr name="TextBox 7" id="7"/>
            <p:cNvSpPr txBox="true"/>
            <p:nvPr/>
          </p:nvSpPr>
          <p:spPr>
            <a:xfrm>
              <a:off x="0" y="-38100"/>
              <a:ext cx="1858746"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146359" y="9657397"/>
            <a:ext cx="20580718" cy="1930377"/>
            <a:chOff x="0" y="0"/>
            <a:chExt cx="5420436" cy="508412"/>
          </a:xfrm>
        </p:grpSpPr>
        <p:sp>
          <p:nvSpPr>
            <p:cNvPr name="Freeform 9" id="9"/>
            <p:cNvSpPr/>
            <p:nvPr/>
          </p:nvSpPr>
          <p:spPr>
            <a:xfrm flipH="false" flipV="false" rot="0">
              <a:off x="0" y="0"/>
              <a:ext cx="5420436" cy="508412"/>
            </a:xfrm>
            <a:custGeom>
              <a:avLst/>
              <a:gdLst/>
              <a:ahLst/>
              <a:cxnLst/>
              <a:rect r="r" b="b" t="t" l="l"/>
              <a:pathLst>
                <a:path h="508412" w="5420436">
                  <a:moveTo>
                    <a:pt x="0" y="0"/>
                  </a:moveTo>
                  <a:lnTo>
                    <a:pt x="5420436" y="0"/>
                  </a:lnTo>
                  <a:lnTo>
                    <a:pt x="5420436" y="508412"/>
                  </a:lnTo>
                  <a:lnTo>
                    <a:pt x="0" y="508412"/>
                  </a:lnTo>
                  <a:close/>
                </a:path>
              </a:pathLst>
            </a:custGeom>
            <a:solidFill>
              <a:srgbClr val="094C69"/>
            </a:solidFill>
          </p:spPr>
        </p:sp>
        <p:sp>
          <p:nvSpPr>
            <p:cNvPr name="TextBox 10" id="10"/>
            <p:cNvSpPr txBox="true"/>
            <p:nvPr/>
          </p:nvSpPr>
          <p:spPr>
            <a:xfrm>
              <a:off x="0" y="-38100"/>
              <a:ext cx="5420436" cy="546512"/>
            </a:xfrm>
            <a:prstGeom prst="rect">
              <a:avLst/>
            </a:prstGeom>
          </p:spPr>
          <p:txBody>
            <a:bodyPr anchor="ctr" rtlCol="false" tIns="50800" lIns="50800" bIns="50800" rIns="50800"/>
            <a:lstStyle/>
            <a:p>
              <a:pPr algn="ctr" marL="0" indent="0" lvl="0">
                <a:lnSpc>
                  <a:spcPts val="2659"/>
                </a:lnSpc>
              </a:pPr>
            </a:p>
          </p:txBody>
        </p:sp>
      </p:grpSp>
      <p:sp>
        <p:nvSpPr>
          <p:cNvPr name="Freeform 11" id="11"/>
          <p:cNvSpPr/>
          <p:nvPr/>
        </p:nvSpPr>
        <p:spPr>
          <a:xfrm flipH="false" flipV="false" rot="-10800000">
            <a:off x="15452394" y="-293807"/>
            <a:ext cx="2339986" cy="3677778"/>
          </a:xfrm>
          <a:custGeom>
            <a:avLst/>
            <a:gdLst/>
            <a:ahLst/>
            <a:cxnLst/>
            <a:rect r="r" b="b" t="t" l="l"/>
            <a:pathLst>
              <a:path h="3677778" w="2339986">
                <a:moveTo>
                  <a:pt x="0" y="0"/>
                </a:moveTo>
                <a:lnTo>
                  <a:pt x="2339986" y="0"/>
                </a:lnTo>
                <a:lnTo>
                  <a:pt x="2339986" y="3677778"/>
                </a:lnTo>
                <a:lnTo>
                  <a:pt x="0" y="3677778"/>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false" flipV="false" rot="0">
            <a:off x="14068362" y="-215044"/>
            <a:ext cx="2304584" cy="1760126"/>
          </a:xfrm>
          <a:custGeom>
            <a:avLst/>
            <a:gdLst/>
            <a:ahLst/>
            <a:cxnLst/>
            <a:rect r="r" b="b" t="t" l="l"/>
            <a:pathLst>
              <a:path h="1760126" w="2304584">
                <a:moveTo>
                  <a:pt x="0" y="0"/>
                </a:moveTo>
                <a:lnTo>
                  <a:pt x="2304584" y="0"/>
                </a:lnTo>
                <a:lnTo>
                  <a:pt x="2304584" y="1760126"/>
                </a:lnTo>
                <a:lnTo>
                  <a:pt x="0" y="1760126"/>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13" id="13"/>
          <p:cNvSpPr txBox="true"/>
          <p:nvPr/>
        </p:nvSpPr>
        <p:spPr>
          <a:xfrm rot="0">
            <a:off x="3343698" y="2406385"/>
            <a:ext cx="11625544" cy="994853"/>
          </a:xfrm>
          <a:prstGeom prst="rect">
            <a:avLst/>
          </a:prstGeom>
        </p:spPr>
        <p:txBody>
          <a:bodyPr anchor="t" rtlCol="false" tIns="0" lIns="0" bIns="0" rIns="0">
            <a:spAutoFit/>
          </a:bodyPr>
          <a:lstStyle/>
          <a:p>
            <a:pPr algn="ctr" marL="0" indent="0" lvl="0">
              <a:lnSpc>
                <a:spcPts val="7761"/>
              </a:lnSpc>
              <a:spcBef>
                <a:spcPct val="0"/>
              </a:spcBef>
            </a:pPr>
            <a:r>
              <a:rPr lang="en-US" sz="6808">
                <a:solidFill>
                  <a:srgbClr val="000000"/>
                </a:solidFill>
                <a:latin typeface="TT Ramillas"/>
                <a:ea typeface="TT Ramillas"/>
                <a:cs typeface="TT Ramillas"/>
                <a:sym typeface="TT Ramillas"/>
              </a:rPr>
              <a:t>ANÁLISIS PORTER</a:t>
            </a:r>
          </a:p>
        </p:txBody>
      </p:sp>
      <p:sp>
        <p:nvSpPr>
          <p:cNvPr name="TextBox 14" id="14"/>
          <p:cNvSpPr txBox="true"/>
          <p:nvPr/>
        </p:nvSpPr>
        <p:spPr>
          <a:xfrm rot="0">
            <a:off x="9614555" y="5325863"/>
            <a:ext cx="5481711" cy="2501455"/>
          </a:xfrm>
          <a:prstGeom prst="rect">
            <a:avLst/>
          </a:prstGeom>
        </p:spPr>
        <p:txBody>
          <a:bodyPr anchor="t" rtlCol="false" tIns="0" lIns="0" bIns="0" rIns="0">
            <a:spAutoFit/>
          </a:bodyPr>
          <a:lstStyle/>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 Poder de clientes: Alta - Instituciones educativas con múltiples opciones de herramientas</a:t>
            </a:r>
          </a:p>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 Amenaza de sustitutos: Alta - Feedback manual, otras plataformas de retroalimentación automatizada</a:t>
            </a:r>
          </a:p>
        </p:txBody>
      </p:sp>
      <p:sp>
        <p:nvSpPr>
          <p:cNvPr name="TextBox 15" id="15"/>
          <p:cNvSpPr txBox="true"/>
          <p:nvPr/>
        </p:nvSpPr>
        <p:spPr>
          <a:xfrm rot="0">
            <a:off x="9933140" y="4241140"/>
            <a:ext cx="4844541" cy="559906"/>
          </a:xfrm>
          <a:prstGeom prst="rect">
            <a:avLst/>
          </a:prstGeom>
        </p:spPr>
        <p:txBody>
          <a:bodyPr anchor="t" rtlCol="false" tIns="0" lIns="0" bIns="0" rIns="0">
            <a:spAutoFit/>
          </a:bodyPr>
          <a:lstStyle/>
          <a:p>
            <a:pPr algn="ctr" marL="0" indent="0" lvl="0">
              <a:lnSpc>
                <a:spcPts val="4708"/>
              </a:lnSpc>
              <a:spcBef>
                <a:spcPct val="0"/>
              </a:spcBef>
            </a:pPr>
            <a:r>
              <a:rPr lang="en-US" b="true" sz="3097">
                <a:solidFill>
                  <a:srgbClr val="FFFFFF"/>
                </a:solidFill>
                <a:latin typeface="TT Ramillas Bold"/>
                <a:ea typeface="TT Ramillas Bold"/>
                <a:cs typeface="TT Ramillas Bold"/>
                <a:sym typeface="TT Ramillas Bold"/>
              </a:rPr>
              <a:t>Fuerzas Externas</a:t>
            </a:r>
          </a:p>
        </p:txBody>
      </p:sp>
      <p:sp>
        <p:nvSpPr>
          <p:cNvPr name="TextBox 16" id="16"/>
          <p:cNvSpPr txBox="true"/>
          <p:nvPr/>
        </p:nvSpPr>
        <p:spPr>
          <a:xfrm rot="0">
            <a:off x="3191734" y="5325863"/>
            <a:ext cx="5628785" cy="3339655"/>
          </a:xfrm>
          <a:prstGeom prst="rect">
            <a:avLst/>
          </a:prstGeom>
        </p:spPr>
        <p:txBody>
          <a:bodyPr anchor="t" rtlCol="false" tIns="0" lIns="0" bIns="0" rIns="0">
            <a:spAutoFit/>
          </a:bodyPr>
          <a:lstStyle/>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 Rivalidad competitiva: Alta - Múltiples soluciones EdTech compitiendo en el mercado LMS</a:t>
            </a:r>
          </a:p>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 Amenaza de nuevos entrantes: Media - Barreras técnicas moderadas por estándares LTI</a:t>
            </a:r>
          </a:p>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 Poder de proveedores: Media-Alta - Dependencia de Canvas API y servicios de IA</a:t>
            </a:r>
          </a:p>
        </p:txBody>
      </p:sp>
      <p:sp>
        <p:nvSpPr>
          <p:cNvPr name="TextBox 17" id="17"/>
          <p:cNvSpPr txBox="true"/>
          <p:nvPr/>
        </p:nvSpPr>
        <p:spPr>
          <a:xfrm rot="0">
            <a:off x="3893041" y="4238845"/>
            <a:ext cx="4154043" cy="559906"/>
          </a:xfrm>
          <a:prstGeom prst="rect">
            <a:avLst/>
          </a:prstGeom>
        </p:spPr>
        <p:txBody>
          <a:bodyPr anchor="t" rtlCol="false" tIns="0" lIns="0" bIns="0" rIns="0">
            <a:spAutoFit/>
          </a:bodyPr>
          <a:lstStyle/>
          <a:p>
            <a:pPr algn="ctr" marL="0" indent="0" lvl="0">
              <a:lnSpc>
                <a:spcPts val="4708"/>
              </a:lnSpc>
              <a:spcBef>
                <a:spcPct val="0"/>
              </a:spcBef>
            </a:pPr>
            <a:r>
              <a:rPr lang="en-US" b="true" sz="3097">
                <a:solidFill>
                  <a:srgbClr val="FFFFFF"/>
                </a:solidFill>
                <a:latin typeface="TT Ramillas Bold"/>
                <a:ea typeface="TT Ramillas Bold"/>
                <a:cs typeface="TT Ramillas Bold"/>
                <a:sym typeface="TT Ramillas Bold"/>
              </a:rPr>
              <a:t>Fuerzas Internas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grpSp>
        <p:nvGrpSpPr>
          <p:cNvPr name="Group 2" id="2"/>
          <p:cNvGrpSpPr/>
          <p:nvPr/>
        </p:nvGrpSpPr>
        <p:grpSpPr>
          <a:xfrm rot="0">
            <a:off x="3343698" y="4112361"/>
            <a:ext cx="5227663" cy="888605"/>
            <a:chOff x="0" y="0"/>
            <a:chExt cx="1858746" cy="315952"/>
          </a:xfrm>
        </p:grpSpPr>
        <p:sp>
          <p:nvSpPr>
            <p:cNvPr name="Freeform 3" id="3"/>
            <p:cNvSpPr/>
            <p:nvPr/>
          </p:nvSpPr>
          <p:spPr>
            <a:xfrm flipH="false" flipV="false" rot="0">
              <a:off x="0" y="0"/>
              <a:ext cx="1858746" cy="315952"/>
            </a:xfrm>
            <a:custGeom>
              <a:avLst/>
              <a:gdLst/>
              <a:ahLst/>
              <a:cxnLst/>
              <a:rect r="r" b="b" t="t" l="l"/>
              <a:pathLst>
                <a:path h="315952" w="1858746">
                  <a:moveTo>
                    <a:pt x="0" y="0"/>
                  </a:moveTo>
                  <a:lnTo>
                    <a:pt x="1858746" y="0"/>
                  </a:lnTo>
                  <a:lnTo>
                    <a:pt x="1858746" y="315952"/>
                  </a:lnTo>
                  <a:lnTo>
                    <a:pt x="0" y="315952"/>
                  </a:lnTo>
                  <a:close/>
                </a:path>
              </a:pathLst>
            </a:custGeom>
            <a:solidFill>
              <a:srgbClr val="094C69"/>
            </a:solidFill>
            <a:ln cap="sq">
              <a:noFill/>
              <a:prstDash val="solid"/>
              <a:miter/>
            </a:ln>
          </p:spPr>
        </p:sp>
        <p:sp>
          <p:nvSpPr>
            <p:cNvPr name="TextBox 4" id="4"/>
            <p:cNvSpPr txBox="true"/>
            <p:nvPr/>
          </p:nvSpPr>
          <p:spPr>
            <a:xfrm>
              <a:off x="0" y="-38100"/>
              <a:ext cx="1858746"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9741579" y="4112361"/>
            <a:ext cx="5227663" cy="888605"/>
            <a:chOff x="0" y="0"/>
            <a:chExt cx="1858746" cy="315952"/>
          </a:xfrm>
        </p:grpSpPr>
        <p:sp>
          <p:nvSpPr>
            <p:cNvPr name="Freeform 6" id="6"/>
            <p:cNvSpPr/>
            <p:nvPr/>
          </p:nvSpPr>
          <p:spPr>
            <a:xfrm flipH="false" flipV="false" rot="0">
              <a:off x="0" y="0"/>
              <a:ext cx="1858746" cy="315952"/>
            </a:xfrm>
            <a:custGeom>
              <a:avLst/>
              <a:gdLst/>
              <a:ahLst/>
              <a:cxnLst/>
              <a:rect r="r" b="b" t="t" l="l"/>
              <a:pathLst>
                <a:path h="315952" w="1858746">
                  <a:moveTo>
                    <a:pt x="0" y="0"/>
                  </a:moveTo>
                  <a:lnTo>
                    <a:pt x="1858746" y="0"/>
                  </a:lnTo>
                  <a:lnTo>
                    <a:pt x="1858746" y="315952"/>
                  </a:lnTo>
                  <a:lnTo>
                    <a:pt x="0" y="315952"/>
                  </a:lnTo>
                  <a:close/>
                </a:path>
              </a:pathLst>
            </a:custGeom>
            <a:solidFill>
              <a:srgbClr val="094C69"/>
            </a:solidFill>
            <a:ln cap="sq">
              <a:noFill/>
              <a:prstDash val="solid"/>
              <a:miter/>
            </a:ln>
          </p:spPr>
        </p:sp>
        <p:sp>
          <p:nvSpPr>
            <p:cNvPr name="TextBox 7" id="7"/>
            <p:cNvSpPr txBox="true"/>
            <p:nvPr/>
          </p:nvSpPr>
          <p:spPr>
            <a:xfrm>
              <a:off x="0" y="-38100"/>
              <a:ext cx="1858746"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146359" y="9657397"/>
            <a:ext cx="20580718" cy="1930377"/>
            <a:chOff x="0" y="0"/>
            <a:chExt cx="5420436" cy="508412"/>
          </a:xfrm>
        </p:grpSpPr>
        <p:sp>
          <p:nvSpPr>
            <p:cNvPr name="Freeform 9" id="9"/>
            <p:cNvSpPr/>
            <p:nvPr/>
          </p:nvSpPr>
          <p:spPr>
            <a:xfrm flipH="false" flipV="false" rot="0">
              <a:off x="0" y="0"/>
              <a:ext cx="5420436" cy="508412"/>
            </a:xfrm>
            <a:custGeom>
              <a:avLst/>
              <a:gdLst/>
              <a:ahLst/>
              <a:cxnLst/>
              <a:rect r="r" b="b" t="t" l="l"/>
              <a:pathLst>
                <a:path h="508412" w="5420436">
                  <a:moveTo>
                    <a:pt x="0" y="0"/>
                  </a:moveTo>
                  <a:lnTo>
                    <a:pt x="5420436" y="0"/>
                  </a:lnTo>
                  <a:lnTo>
                    <a:pt x="5420436" y="508412"/>
                  </a:lnTo>
                  <a:lnTo>
                    <a:pt x="0" y="508412"/>
                  </a:lnTo>
                  <a:close/>
                </a:path>
              </a:pathLst>
            </a:custGeom>
            <a:solidFill>
              <a:srgbClr val="094C69"/>
            </a:solidFill>
          </p:spPr>
        </p:sp>
        <p:sp>
          <p:nvSpPr>
            <p:cNvPr name="TextBox 10" id="10"/>
            <p:cNvSpPr txBox="true"/>
            <p:nvPr/>
          </p:nvSpPr>
          <p:spPr>
            <a:xfrm>
              <a:off x="0" y="-38100"/>
              <a:ext cx="5420436" cy="546512"/>
            </a:xfrm>
            <a:prstGeom prst="rect">
              <a:avLst/>
            </a:prstGeom>
          </p:spPr>
          <p:txBody>
            <a:bodyPr anchor="ctr" rtlCol="false" tIns="50800" lIns="50800" bIns="50800" rIns="50800"/>
            <a:lstStyle/>
            <a:p>
              <a:pPr algn="ctr" marL="0" indent="0" lvl="0">
                <a:lnSpc>
                  <a:spcPts val="2659"/>
                </a:lnSpc>
              </a:pPr>
            </a:p>
          </p:txBody>
        </p:sp>
      </p:grpSp>
      <p:sp>
        <p:nvSpPr>
          <p:cNvPr name="Freeform 11" id="11"/>
          <p:cNvSpPr/>
          <p:nvPr/>
        </p:nvSpPr>
        <p:spPr>
          <a:xfrm flipH="false" flipV="false" rot="-10800000">
            <a:off x="15452394" y="-293807"/>
            <a:ext cx="2339986" cy="3677778"/>
          </a:xfrm>
          <a:custGeom>
            <a:avLst/>
            <a:gdLst/>
            <a:ahLst/>
            <a:cxnLst/>
            <a:rect r="r" b="b" t="t" l="l"/>
            <a:pathLst>
              <a:path h="3677778" w="2339986">
                <a:moveTo>
                  <a:pt x="0" y="0"/>
                </a:moveTo>
                <a:lnTo>
                  <a:pt x="2339986" y="0"/>
                </a:lnTo>
                <a:lnTo>
                  <a:pt x="2339986" y="3677778"/>
                </a:lnTo>
                <a:lnTo>
                  <a:pt x="0" y="3677778"/>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false" flipV="false" rot="0">
            <a:off x="14068362" y="-215044"/>
            <a:ext cx="2304584" cy="1760126"/>
          </a:xfrm>
          <a:custGeom>
            <a:avLst/>
            <a:gdLst/>
            <a:ahLst/>
            <a:cxnLst/>
            <a:rect r="r" b="b" t="t" l="l"/>
            <a:pathLst>
              <a:path h="1760126" w="2304584">
                <a:moveTo>
                  <a:pt x="0" y="0"/>
                </a:moveTo>
                <a:lnTo>
                  <a:pt x="2304584" y="0"/>
                </a:lnTo>
                <a:lnTo>
                  <a:pt x="2304584" y="1760126"/>
                </a:lnTo>
                <a:lnTo>
                  <a:pt x="0" y="1760126"/>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13" id="13"/>
          <p:cNvSpPr txBox="true"/>
          <p:nvPr/>
        </p:nvSpPr>
        <p:spPr>
          <a:xfrm rot="0">
            <a:off x="3343698" y="2406385"/>
            <a:ext cx="11625544" cy="994853"/>
          </a:xfrm>
          <a:prstGeom prst="rect">
            <a:avLst/>
          </a:prstGeom>
        </p:spPr>
        <p:txBody>
          <a:bodyPr anchor="t" rtlCol="false" tIns="0" lIns="0" bIns="0" rIns="0">
            <a:spAutoFit/>
          </a:bodyPr>
          <a:lstStyle/>
          <a:p>
            <a:pPr algn="ctr" marL="0" indent="0" lvl="0">
              <a:lnSpc>
                <a:spcPts val="7761"/>
              </a:lnSpc>
              <a:spcBef>
                <a:spcPct val="0"/>
              </a:spcBef>
            </a:pPr>
            <a:r>
              <a:rPr lang="en-US" sz="6808">
                <a:solidFill>
                  <a:srgbClr val="000000"/>
                </a:solidFill>
                <a:latin typeface="TT Ramillas"/>
                <a:ea typeface="TT Ramillas"/>
                <a:cs typeface="TT Ramillas"/>
                <a:sym typeface="TT Ramillas"/>
              </a:rPr>
              <a:t>FODA</a:t>
            </a:r>
          </a:p>
        </p:txBody>
      </p:sp>
      <p:sp>
        <p:nvSpPr>
          <p:cNvPr name="TextBox 14" id="14"/>
          <p:cNvSpPr txBox="true"/>
          <p:nvPr/>
        </p:nvSpPr>
        <p:spPr>
          <a:xfrm rot="0">
            <a:off x="9614555" y="5325863"/>
            <a:ext cx="5481711" cy="2501455"/>
          </a:xfrm>
          <a:prstGeom prst="rect">
            <a:avLst/>
          </a:prstGeom>
        </p:spPr>
        <p:txBody>
          <a:bodyPr anchor="t" rtlCol="false" tIns="0" lIns="0" bIns="0" rIns="0">
            <a:spAutoFit/>
          </a:bodyPr>
          <a:lstStyle/>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Debilidades: Dependencia de API de Canvas, curva de aprendizaje para docentes, riesgo de precisión en IA.</a:t>
            </a:r>
          </a:p>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Amenazas: Actualizaciones de Canvas, regulaciones de privacidad cambiantes, soluciones sustitutas externas.</a:t>
            </a:r>
          </a:p>
        </p:txBody>
      </p:sp>
      <p:sp>
        <p:nvSpPr>
          <p:cNvPr name="TextBox 15" id="15"/>
          <p:cNvSpPr txBox="true"/>
          <p:nvPr/>
        </p:nvSpPr>
        <p:spPr>
          <a:xfrm rot="0">
            <a:off x="9933140" y="4260190"/>
            <a:ext cx="4844541" cy="459161"/>
          </a:xfrm>
          <a:prstGeom prst="rect">
            <a:avLst/>
          </a:prstGeom>
        </p:spPr>
        <p:txBody>
          <a:bodyPr anchor="t" rtlCol="false" tIns="0" lIns="0" bIns="0" rIns="0">
            <a:spAutoFit/>
          </a:bodyPr>
          <a:lstStyle/>
          <a:p>
            <a:pPr algn="ctr" marL="0" indent="0" lvl="0">
              <a:lnSpc>
                <a:spcPts val="3845"/>
              </a:lnSpc>
              <a:spcBef>
                <a:spcPct val="0"/>
              </a:spcBef>
            </a:pPr>
            <a:r>
              <a:rPr lang="en-US" b="true" sz="2529">
                <a:solidFill>
                  <a:srgbClr val="FFFFFF"/>
                </a:solidFill>
                <a:latin typeface="TT Ramillas Bold"/>
                <a:ea typeface="TT Ramillas Bold"/>
                <a:cs typeface="TT Ramillas Bold"/>
                <a:sym typeface="TT Ramillas Bold"/>
              </a:rPr>
              <a:t>Debilidades y Amenazas</a:t>
            </a:r>
          </a:p>
        </p:txBody>
      </p:sp>
      <p:sp>
        <p:nvSpPr>
          <p:cNvPr name="TextBox 16" id="16"/>
          <p:cNvSpPr txBox="true"/>
          <p:nvPr/>
        </p:nvSpPr>
        <p:spPr>
          <a:xfrm rot="0">
            <a:off x="3191734" y="5325863"/>
            <a:ext cx="5628785" cy="2920555"/>
          </a:xfrm>
          <a:prstGeom prst="rect">
            <a:avLst/>
          </a:prstGeom>
        </p:spPr>
        <p:txBody>
          <a:bodyPr anchor="t" rtlCol="false" tIns="0" lIns="0" bIns="0" rIns="0">
            <a:spAutoFit/>
          </a:bodyPr>
          <a:lstStyle/>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Fortalezas: Integración nativa con Canvas LMS, personalización del feedback según historial académico, cumplimiento legal Ley 21.719, respuesta en menos de 3 segundos.</a:t>
            </a:r>
          </a:p>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Oportunidades: Liderazgo en innovación educativa, mejora en retención estudiantil, escalabilidad a otras instituciones.</a:t>
            </a:r>
          </a:p>
        </p:txBody>
      </p:sp>
      <p:sp>
        <p:nvSpPr>
          <p:cNvPr name="TextBox 17" id="17"/>
          <p:cNvSpPr txBox="true"/>
          <p:nvPr/>
        </p:nvSpPr>
        <p:spPr>
          <a:xfrm rot="0">
            <a:off x="3893041" y="4257895"/>
            <a:ext cx="4154043" cy="459161"/>
          </a:xfrm>
          <a:prstGeom prst="rect">
            <a:avLst/>
          </a:prstGeom>
        </p:spPr>
        <p:txBody>
          <a:bodyPr anchor="t" rtlCol="false" tIns="0" lIns="0" bIns="0" rIns="0">
            <a:spAutoFit/>
          </a:bodyPr>
          <a:lstStyle/>
          <a:p>
            <a:pPr algn="ctr" marL="0" indent="0" lvl="0">
              <a:lnSpc>
                <a:spcPts val="3845"/>
              </a:lnSpc>
              <a:spcBef>
                <a:spcPct val="0"/>
              </a:spcBef>
            </a:pPr>
            <a:r>
              <a:rPr lang="en-US" b="true" sz="2529">
                <a:solidFill>
                  <a:srgbClr val="FFFFFF"/>
                </a:solidFill>
                <a:latin typeface="TT Ramillas Bold"/>
                <a:ea typeface="TT Ramillas Bold"/>
                <a:cs typeface="TT Ramillas Bold"/>
                <a:sym typeface="TT Ramillas Bold"/>
              </a:rPr>
              <a:t>Fortalezas y Oportunidades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grpSp>
        <p:nvGrpSpPr>
          <p:cNvPr name="Group 2" id="2"/>
          <p:cNvGrpSpPr/>
          <p:nvPr/>
        </p:nvGrpSpPr>
        <p:grpSpPr>
          <a:xfrm rot="0">
            <a:off x="-1307930" y="-535143"/>
            <a:ext cx="3020465" cy="11934400"/>
            <a:chOff x="0" y="0"/>
            <a:chExt cx="795514" cy="3143216"/>
          </a:xfrm>
        </p:grpSpPr>
        <p:sp>
          <p:nvSpPr>
            <p:cNvPr name="Freeform 3" id="3"/>
            <p:cNvSpPr/>
            <p:nvPr/>
          </p:nvSpPr>
          <p:spPr>
            <a:xfrm flipH="false" flipV="false" rot="0">
              <a:off x="0" y="0"/>
              <a:ext cx="795514" cy="3143216"/>
            </a:xfrm>
            <a:custGeom>
              <a:avLst/>
              <a:gdLst/>
              <a:ahLst/>
              <a:cxnLst/>
              <a:rect r="r" b="b" t="t" l="l"/>
              <a:pathLst>
                <a:path h="3143216" w="795514">
                  <a:moveTo>
                    <a:pt x="0" y="0"/>
                  </a:moveTo>
                  <a:lnTo>
                    <a:pt x="795514" y="0"/>
                  </a:lnTo>
                  <a:lnTo>
                    <a:pt x="795514" y="3143216"/>
                  </a:lnTo>
                  <a:lnTo>
                    <a:pt x="0" y="3143216"/>
                  </a:lnTo>
                  <a:close/>
                </a:path>
              </a:pathLst>
            </a:custGeom>
            <a:solidFill>
              <a:srgbClr val="094C69"/>
            </a:solidFill>
          </p:spPr>
        </p:sp>
        <p:sp>
          <p:nvSpPr>
            <p:cNvPr name="TextBox 4" id="4"/>
            <p:cNvSpPr txBox="true"/>
            <p:nvPr/>
          </p:nvSpPr>
          <p:spPr>
            <a:xfrm>
              <a:off x="0" y="-38100"/>
              <a:ext cx="795514" cy="3181316"/>
            </a:xfrm>
            <a:prstGeom prst="rect">
              <a:avLst/>
            </a:prstGeom>
          </p:spPr>
          <p:txBody>
            <a:bodyPr anchor="ctr" rtlCol="false" tIns="50800" lIns="50800" bIns="50800" rIns="50800"/>
            <a:lstStyle/>
            <a:p>
              <a:pPr algn="ctr" marL="0" indent="0" lvl="0">
                <a:lnSpc>
                  <a:spcPts val="2659"/>
                </a:lnSpc>
              </a:pPr>
            </a:p>
          </p:txBody>
        </p:sp>
      </p:grpSp>
      <p:sp>
        <p:nvSpPr>
          <p:cNvPr name="Freeform 5" id="5"/>
          <p:cNvSpPr/>
          <p:nvPr/>
        </p:nvSpPr>
        <p:spPr>
          <a:xfrm flipH="false" flipV="false" rot="-10800000">
            <a:off x="15452394" y="-293807"/>
            <a:ext cx="2339986" cy="3677778"/>
          </a:xfrm>
          <a:custGeom>
            <a:avLst/>
            <a:gdLst/>
            <a:ahLst/>
            <a:cxnLst/>
            <a:rect r="r" b="b" t="t" l="l"/>
            <a:pathLst>
              <a:path h="3677778" w="2339986">
                <a:moveTo>
                  <a:pt x="0" y="0"/>
                </a:moveTo>
                <a:lnTo>
                  <a:pt x="2339986" y="0"/>
                </a:lnTo>
                <a:lnTo>
                  <a:pt x="2339986" y="3677778"/>
                </a:lnTo>
                <a:lnTo>
                  <a:pt x="0" y="3677778"/>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14068362" y="-215044"/>
            <a:ext cx="2304584" cy="1760126"/>
          </a:xfrm>
          <a:custGeom>
            <a:avLst/>
            <a:gdLst/>
            <a:ahLst/>
            <a:cxnLst/>
            <a:rect r="r" b="b" t="t" l="l"/>
            <a:pathLst>
              <a:path h="1760126" w="2304584">
                <a:moveTo>
                  <a:pt x="0" y="0"/>
                </a:moveTo>
                <a:lnTo>
                  <a:pt x="2304584" y="0"/>
                </a:lnTo>
                <a:lnTo>
                  <a:pt x="2304584" y="1760126"/>
                </a:lnTo>
                <a:lnTo>
                  <a:pt x="0" y="1760126"/>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3119536" y="4090748"/>
            <a:ext cx="8031093" cy="5220210"/>
          </a:xfrm>
          <a:custGeom>
            <a:avLst/>
            <a:gdLst/>
            <a:ahLst/>
            <a:cxnLst/>
            <a:rect r="r" b="b" t="t" l="l"/>
            <a:pathLst>
              <a:path h="5220210" w="8031093">
                <a:moveTo>
                  <a:pt x="0" y="0"/>
                </a:moveTo>
                <a:lnTo>
                  <a:pt x="8031093" y="0"/>
                </a:lnTo>
                <a:lnTo>
                  <a:pt x="8031093" y="5220210"/>
                </a:lnTo>
                <a:lnTo>
                  <a:pt x="0" y="5220210"/>
                </a:lnTo>
                <a:lnTo>
                  <a:pt x="0" y="0"/>
                </a:lnTo>
                <a:close/>
              </a:path>
            </a:pathLst>
          </a:custGeom>
          <a:blipFill>
            <a:blip r:embed="rId6"/>
            <a:stretch>
              <a:fillRect l="0" t="0" r="0" b="0"/>
            </a:stretch>
          </a:blipFill>
        </p:spPr>
      </p:sp>
      <p:sp>
        <p:nvSpPr>
          <p:cNvPr name="TextBox 8" id="8"/>
          <p:cNvSpPr txBox="true"/>
          <p:nvPr/>
        </p:nvSpPr>
        <p:spPr>
          <a:xfrm rot="0">
            <a:off x="3119536" y="2577726"/>
            <a:ext cx="11581777" cy="573477"/>
          </a:xfrm>
          <a:prstGeom prst="rect">
            <a:avLst/>
          </a:prstGeom>
        </p:spPr>
        <p:txBody>
          <a:bodyPr anchor="t" rtlCol="false" tIns="0" lIns="0" bIns="0" rIns="0">
            <a:spAutoFit/>
          </a:bodyPr>
          <a:lstStyle/>
          <a:p>
            <a:pPr algn="l" marL="0" indent="0" lvl="0">
              <a:lnSpc>
                <a:spcPts val="4570"/>
              </a:lnSpc>
              <a:spcBef>
                <a:spcPct val="0"/>
              </a:spcBef>
            </a:pPr>
            <a:r>
              <a:rPr lang="en-US" sz="4009">
                <a:solidFill>
                  <a:srgbClr val="000000"/>
                </a:solidFill>
                <a:latin typeface="TT Ramillas"/>
                <a:ea typeface="TT Ramillas"/>
                <a:cs typeface="TT Ramillas"/>
                <a:sym typeface="TT Ramillas"/>
              </a:rPr>
              <a:t>DIAGRAMA DE ISHIKAWA</a:t>
            </a:r>
          </a:p>
        </p:txBody>
      </p:sp>
      <p:sp>
        <p:nvSpPr>
          <p:cNvPr name="TextBox 9" id="9"/>
          <p:cNvSpPr txBox="true"/>
          <p:nvPr/>
        </p:nvSpPr>
        <p:spPr>
          <a:xfrm rot="0">
            <a:off x="11499469" y="5437529"/>
            <a:ext cx="5759831" cy="2183749"/>
          </a:xfrm>
          <a:prstGeom prst="rect">
            <a:avLst/>
          </a:prstGeom>
        </p:spPr>
        <p:txBody>
          <a:bodyPr anchor="t" rtlCol="false" tIns="0" lIns="0" bIns="0" rIns="0">
            <a:spAutoFit/>
          </a:bodyPr>
          <a:lstStyle/>
          <a:p>
            <a:pPr algn="l">
              <a:lnSpc>
                <a:spcPts val="2485"/>
              </a:lnSpc>
            </a:pPr>
            <a:r>
              <a:rPr lang="en-US" sz="1775">
                <a:solidFill>
                  <a:srgbClr val="000000"/>
                </a:solidFill>
                <a:latin typeface="TT Ramillas"/>
                <a:ea typeface="TT Ramillas"/>
                <a:cs typeface="TT Ramillas"/>
                <a:sym typeface="TT Ramillas"/>
              </a:rPr>
              <a:t>Identifica y clasifica las posibles causas de una falla en la implementación del Sistema de Feedback Adaptativo.</a:t>
            </a:r>
          </a:p>
          <a:p>
            <a:pPr algn="l">
              <a:lnSpc>
                <a:spcPts val="2485"/>
              </a:lnSpc>
            </a:pPr>
          </a:p>
          <a:p>
            <a:pPr algn="l" marL="0" indent="0" lvl="0">
              <a:lnSpc>
                <a:spcPts val="2485"/>
              </a:lnSpc>
            </a:pPr>
            <a:r>
              <a:rPr lang="en-US" sz="1775">
                <a:solidFill>
                  <a:srgbClr val="000000"/>
                </a:solidFill>
                <a:latin typeface="TT Ramillas"/>
                <a:ea typeface="TT Ramillas"/>
                <a:cs typeface="TT Ramillas"/>
                <a:sym typeface="TT Ramillas"/>
              </a:rPr>
              <a:t>Este tipo de análisis preventivo permite mapear los puntos críticos que podrían comprometer la estabilidad del servicio y el cumplimiento de los estándares institucionales.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grpSp>
        <p:nvGrpSpPr>
          <p:cNvPr name="Group 2" id="2"/>
          <p:cNvGrpSpPr/>
          <p:nvPr/>
        </p:nvGrpSpPr>
        <p:grpSpPr>
          <a:xfrm rot="0">
            <a:off x="-137548" y="-171935"/>
            <a:ext cx="8305136" cy="10665257"/>
            <a:chOff x="0" y="0"/>
            <a:chExt cx="11073515" cy="14220342"/>
          </a:xfrm>
        </p:grpSpPr>
        <p:pic>
          <p:nvPicPr>
            <p:cNvPr name="Picture 3" id="3"/>
            <p:cNvPicPr>
              <a:picLocks noChangeAspect="true"/>
            </p:cNvPicPr>
            <p:nvPr/>
          </p:nvPicPr>
          <p:blipFill>
            <a:blip r:embed="rId2"/>
            <a:srcRect l="1857" t="0" r="1857" b="0"/>
            <a:stretch>
              <a:fillRect/>
            </a:stretch>
          </p:blipFill>
          <p:spPr>
            <a:xfrm flipH="false" flipV="false">
              <a:off x="0" y="0"/>
              <a:ext cx="11073515" cy="14220342"/>
            </a:xfrm>
            <a:prstGeom prst="rect">
              <a:avLst/>
            </a:prstGeom>
          </p:spPr>
        </p:pic>
      </p:grpSp>
      <p:grpSp>
        <p:nvGrpSpPr>
          <p:cNvPr name="Group 4" id="4"/>
          <p:cNvGrpSpPr/>
          <p:nvPr/>
        </p:nvGrpSpPr>
        <p:grpSpPr>
          <a:xfrm rot="0">
            <a:off x="9144000" y="2466100"/>
            <a:ext cx="10370161" cy="337406"/>
            <a:chOff x="0" y="0"/>
            <a:chExt cx="2731236" cy="88864"/>
          </a:xfrm>
        </p:grpSpPr>
        <p:sp>
          <p:nvSpPr>
            <p:cNvPr name="Freeform 5" id="5"/>
            <p:cNvSpPr/>
            <p:nvPr/>
          </p:nvSpPr>
          <p:spPr>
            <a:xfrm flipH="false" flipV="false" rot="0">
              <a:off x="0" y="0"/>
              <a:ext cx="2731236" cy="88864"/>
            </a:xfrm>
            <a:custGeom>
              <a:avLst/>
              <a:gdLst/>
              <a:ahLst/>
              <a:cxnLst/>
              <a:rect r="r" b="b" t="t" l="l"/>
              <a:pathLst>
                <a:path h="88864" w="2731236">
                  <a:moveTo>
                    <a:pt x="0" y="0"/>
                  </a:moveTo>
                  <a:lnTo>
                    <a:pt x="2731236" y="0"/>
                  </a:lnTo>
                  <a:lnTo>
                    <a:pt x="2731236" y="88864"/>
                  </a:lnTo>
                  <a:lnTo>
                    <a:pt x="0" y="88864"/>
                  </a:lnTo>
                  <a:close/>
                </a:path>
              </a:pathLst>
            </a:custGeom>
            <a:solidFill>
              <a:srgbClr val="094C69"/>
            </a:solidFill>
          </p:spPr>
        </p:sp>
        <p:sp>
          <p:nvSpPr>
            <p:cNvPr name="TextBox 6" id="6"/>
            <p:cNvSpPr txBox="true"/>
            <p:nvPr/>
          </p:nvSpPr>
          <p:spPr>
            <a:xfrm>
              <a:off x="0" y="-38100"/>
              <a:ext cx="2731236" cy="126964"/>
            </a:xfrm>
            <a:prstGeom prst="rect">
              <a:avLst/>
            </a:prstGeom>
          </p:spPr>
          <p:txBody>
            <a:bodyPr anchor="ctr" rtlCol="false" tIns="50800" lIns="50800" bIns="50800" rIns="50800"/>
            <a:lstStyle/>
            <a:p>
              <a:pPr algn="ctr" marL="0" indent="0" lvl="0">
                <a:lnSpc>
                  <a:spcPts val="2659"/>
                </a:lnSpc>
              </a:pPr>
            </a:p>
          </p:txBody>
        </p:sp>
      </p:grpSp>
      <p:sp>
        <p:nvSpPr>
          <p:cNvPr name="TextBox 7" id="7"/>
          <p:cNvSpPr txBox="true"/>
          <p:nvPr/>
        </p:nvSpPr>
        <p:spPr>
          <a:xfrm rot="0">
            <a:off x="9144000" y="3685986"/>
            <a:ext cx="7611374" cy="793727"/>
          </a:xfrm>
          <a:prstGeom prst="rect">
            <a:avLst/>
          </a:prstGeom>
        </p:spPr>
        <p:txBody>
          <a:bodyPr anchor="t" rtlCol="false" tIns="0" lIns="0" bIns="0" rIns="0">
            <a:spAutoFit/>
          </a:bodyPr>
          <a:lstStyle/>
          <a:p>
            <a:pPr algn="l" marL="0" indent="0" lvl="0">
              <a:lnSpc>
                <a:spcPts val="6171"/>
              </a:lnSpc>
              <a:spcBef>
                <a:spcPct val="0"/>
              </a:spcBef>
            </a:pPr>
            <a:r>
              <a:rPr lang="en-US" sz="5413">
                <a:solidFill>
                  <a:srgbClr val="000000"/>
                </a:solidFill>
                <a:latin typeface="TT Ramillas"/>
                <a:ea typeface="TT Ramillas"/>
                <a:cs typeface="TT Ramillas"/>
                <a:sym typeface="TT Ramillas"/>
              </a:rPr>
              <a:t>SOLUCIÓN PROPUESTA</a:t>
            </a:r>
          </a:p>
        </p:txBody>
      </p:sp>
      <p:sp>
        <p:nvSpPr>
          <p:cNvPr name="TextBox 8" id="8"/>
          <p:cNvSpPr txBox="true"/>
          <p:nvPr/>
        </p:nvSpPr>
        <p:spPr>
          <a:xfrm rot="0">
            <a:off x="9144000" y="5188368"/>
            <a:ext cx="7362454" cy="2372166"/>
          </a:xfrm>
          <a:prstGeom prst="rect">
            <a:avLst/>
          </a:prstGeom>
        </p:spPr>
        <p:txBody>
          <a:bodyPr anchor="t" rtlCol="false" tIns="0" lIns="0" bIns="0" rIns="0">
            <a:spAutoFit/>
          </a:bodyPr>
          <a:lstStyle/>
          <a:p>
            <a:pPr algn="l" marL="0" indent="0" lvl="0">
              <a:lnSpc>
                <a:spcPts val="3189"/>
              </a:lnSpc>
              <a:spcBef>
                <a:spcPct val="0"/>
              </a:spcBef>
            </a:pPr>
            <a:r>
              <a:rPr lang="en-US" sz="2098" strike="noStrike" u="none">
                <a:solidFill>
                  <a:srgbClr val="000000"/>
                </a:solidFill>
                <a:latin typeface="TT Ramillas"/>
                <a:ea typeface="TT Ramillas"/>
                <a:cs typeface="TT Ramillas"/>
                <a:sym typeface="TT Ramillas"/>
              </a:rPr>
              <a:t>Plugin de feedback adaptativo que genera retroalimentación automática con IA, personalizada según el historial académico del estudiante. Integración nativa vía estándar LTI 1.3 con Canvas LMS. Mensajes diferenciados por rangos de calificación: ≥6.0 felicitación, 4.0-5.9 motivación, &lt;4.0 apoyo. Tiempo de respuesta inferior a 3 segundos.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sp>
        <p:nvSpPr>
          <p:cNvPr name="TextBox 2" id="2"/>
          <p:cNvSpPr txBox="true"/>
          <p:nvPr/>
        </p:nvSpPr>
        <p:spPr>
          <a:xfrm rot="0">
            <a:off x="3119536" y="2577726"/>
            <a:ext cx="11581777" cy="573477"/>
          </a:xfrm>
          <a:prstGeom prst="rect">
            <a:avLst/>
          </a:prstGeom>
        </p:spPr>
        <p:txBody>
          <a:bodyPr anchor="t" rtlCol="false" tIns="0" lIns="0" bIns="0" rIns="0">
            <a:spAutoFit/>
          </a:bodyPr>
          <a:lstStyle/>
          <a:p>
            <a:pPr algn="l" marL="0" indent="0" lvl="0">
              <a:lnSpc>
                <a:spcPts val="4570"/>
              </a:lnSpc>
              <a:spcBef>
                <a:spcPct val="0"/>
              </a:spcBef>
            </a:pPr>
            <a:r>
              <a:rPr lang="en-US" sz="4009">
                <a:solidFill>
                  <a:srgbClr val="000000"/>
                </a:solidFill>
                <a:latin typeface="TT Ramillas"/>
                <a:ea typeface="TT Ramillas"/>
                <a:cs typeface="TT Ramillas"/>
                <a:sym typeface="TT Ramillas"/>
              </a:rPr>
              <a:t>REQUERIMIENTOS FUNCIONALES PRINCIPALES</a:t>
            </a:r>
          </a:p>
        </p:txBody>
      </p:sp>
      <p:sp>
        <p:nvSpPr>
          <p:cNvPr name="TextBox 3" id="3"/>
          <p:cNvSpPr txBox="true"/>
          <p:nvPr/>
        </p:nvSpPr>
        <p:spPr>
          <a:xfrm rot="0">
            <a:off x="3119536" y="3879310"/>
            <a:ext cx="10458051" cy="5326999"/>
          </a:xfrm>
          <a:prstGeom prst="rect">
            <a:avLst/>
          </a:prstGeom>
        </p:spPr>
        <p:txBody>
          <a:bodyPr anchor="t" rtlCol="false" tIns="0" lIns="0" bIns="0" rIns="0">
            <a:spAutoFit/>
          </a:bodyPr>
          <a:lstStyle/>
          <a:p>
            <a:pPr algn="l" marL="0" indent="0" lvl="0">
              <a:lnSpc>
                <a:spcPts val="2485"/>
              </a:lnSpc>
            </a:pPr>
            <a:r>
              <a:rPr lang="en-US" sz="1775">
                <a:solidFill>
                  <a:srgbClr val="000000"/>
                </a:solidFill>
                <a:latin typeface="TT Ramillas"/>
                <a:ea typeface="TT Ramillas"/>
                <a:cs typeface="TT Ramillas"/>
                <a:sym typeface="TT Ramillas"/>
              </a:rPr>
              <a:t>Generación de Feedback con IA (8 requerimientos)</a:t>
            </a:r>
          </a:p>
          <a:p>
            <a:pPr algn="l" marL="0" indent="0" lvl="0">
              <a:lnSpc>
                <a:spcPts val="2485"/>
              </a:lnSpc>
            </a:pPr>
            <a:r>
              <a:rPr lang="en-US" sz="1775">
                <a:solidFill>
                  <a:srgbClr val="000000"/>
                </a:solidFill>
                <a:latin typeface="TT Ramillas"/>
                <a:ea typeface="TT Ramillas"/>
                <a:cs typeface="TT Ramillas"/>
                <a:sym typeface="TT Ramillas"/>
              </a:rPr>
              <a:t>Generación automática personalizada, análisis de historial académico, diferenciación por rangos de nota, procesamiento en tiempo real.</a:t>
            </a:r>
          </a:p>
          <a:p>
            <a:pPr algn="l" marL="0" indent="0" lvl="0">
              <a:lnSpc>
                <a:spcPts val="2485"/>
              </a:lnSpc>
            </a:pPr>
            <a:r>
              <a:rPr lang="en-US" sz="1775">
                <a:solidFill>
                  <a:srgbClr val="000000"/>
                </a:solidFill>
                <a:latin typeface="TT Ramillas"/>
                <a:ea typeface="TT Ramillas"/>
                <a:cs typeface="TT Ramillas"/>
                <a:sym typeface="TT Ramillas"/>
              </a:rPr>
              <a:t>Gestión de Plantillas (7 requerimientos)</a:t>
            </a:r>
          </a:p>
          <a:p>
            <a:pPr algn="l" marL="0" indent="0" lvl="0">
              <a:lnSpc>
                <a:spcPts val="2485"/>
              </a:lnSpc>
            </a:pPr>
            <a:r>
              <a:rPr lang="en-US" sz="1775">
                <a:solidFill>
                  <a:srgbClr val="000000"/>
                </a:solidFill>
                <a:latin typeface="TT Ramillas"/>
                <a:ea typeface="TT Ramillas"/>
                <a:cs typeface="TT Ramillas"/>
                <a:sym typeface="TT Ramillas"/>
              </a:rPr>
              <a:t>Creación, edición y eliminación de plantillas, categorización por tipo de feedback, variables dinámicas configurables.</a:t>
            </a:r>
          </a:p>
          <a:p>
            <a:pPr algn="l" marL="0" indent="0" lvl="0">
              <a:lnSpc>
                <a:spcPts val="2485"/>
              </a:lnSpc>
            </a:pPr>
            <a:r>
              <a:rPr lang="en-US" sz="1775">
                <a:solidFill>
                  <a:srgbClr val="000000"/>
                </a:solidFill>
                <a:latin typeface="TT Ramillas"/>
                <a:ea typeface="TT Ramillas"/>
                <a:cs typeface="TT Ramillas"/>
                <a:sym typeface="TT Ramillas"/>
              </a:rPr>
              <a:t>Integración Canvas LTI 1.3 (7 requerimientos)</a:t>
            </a:r>
          </a:p>
          <a:p>
            <a:pPr algn="l" marL="0" indent="0" lvl="0">
              <a:lnSpc>
                <a:spcPts val="2485"/>
              </a:lnSpc>
            </a:pPr>
            <a:r>
              <a:rPr lang="en-US" sz="1775">
                <a:solidFill>
                  <a:srgbClr val="000000"/>
                </a:solidFill>
                <a:latin typeface="TT Ramillas"/>
                <a:ea typeface="TT Ramillas"/>
                <a:cs typeface="TT Ramillas"/>
                <a:sym typeface="TT Ramillas"/>
              </a:rPr>
              <a:t>Autenticación OAuth 2.0, sincronización de calificaciones, integración con SpeedGrader, gestión de tokens seguros.</a:t>
            </a:r>
          </a:p>
          <a:p>
            <a:pPr algn="l" marL="0" indent="0" lvl="0">
              <a:lnSpc>
                <a:spcPts val="2485"/>
              </a:lnSpc>
            </a:pPr>
            <a:r>
              <a:rPr lang="en-US" sz="1775">
                <a:solidFill>
                  <a:srgbClr val="000000"/>
                </a:solidFill>
                <a:latin typeface="TT Ramillas"/>
                <a:ea typeface="TT Ramillas"/>
                <a:cs typeface="TT Ramillas"/>
                <a:sym typeface="TT Ramillas"/>
              </a:rPr>
              <a:t>Panel de Revisión Docente (8 requerimientos)</a:t>
            </a:r>
          </a:p>
          <a:p>
            <a:pPr algn="l" marL="0" indent="0" lvl="0">
              <a:lnSpc>
                <a:spcPts val="2485"/>
              </a:lnSpc>
            </a:pPr>
            <a:r>
              <a:rPr lang="en-US" sz="1775">
                <a:solidFill>
                  <a:srgbClr val="000000"/>
                </a:solidFill>
                <a:latin typeface="TT Ramillas"/>
                <a:ea typeface="TT Ramillas"/>
                <a:cs typeface="TT Ramillas"/>
                <a:sym typeface="TT Ramillas"/>
              </a:rPr>
              <a:t>Aprobación/edición de feedback generado, vista previa antes de envío, historial de modificaciones, filtros por curso y asignación.</a:t>
            </a:r>
          </a:p>
          <a:p>
            <a:pPr algn="l" marL="0" indent="0" lvl="0">
              <a:lnSpc>
                <a:spcPts val="2485"/>
              </a:lnSpc>
            </a:pPr>
            <a:r>
              <a:rPr lang="en-US" sz="1775">
                <a:solidFill>
                  <a:srgbClr val="000000"/>
                </a:solidFill>
                <a:latin typeface="TT Ramillas"/>
                <a:ea typeface="TT Ramillas"/>
                <a:cs typeface="TT Ramillas"/>
                <a:sym typeface="TT Ramillas"/>
              </a:rPr>
              <a:t>Vista Estudiante (3 requerimientos)</a:t>
            </a:r>
          </a:p>
          <a:p>
            <a:pPr algn="l" marL="0" indent="0" lvl="0">
              <a:lnSpc>
                <a:spcPts val="2485"/>
              </a:lnSpc>
            </a:pPr>
            <a:r>
              <a:rPr lang="en-US" sz="1775">
                <a:solidFill>
                  <a:srgbClr val="000000"/>
                </a:solidFill>
                <a:latin typeface="TT Ramillas"/>
                <a:ea typeface="TT Ramillas"/>
                <a:cs typeface="TT Ramillas"/>
                <a:sym typeface="TT Ramillas"/>
              </a:rPr>
              <a:t>Visualización de feedback recibido, historial de retroalimentaciones, notificaciones de nuevo feedback.</a:t>
            </a:r>
          </a:p>
          <a:p>
            <a:pPr algn="l" marL="0" indent="0" lvl="0">
              <a:lnSpc>
                <a:spcPts val="2485"/>
              </a:lnSpc>
            </a:pPr>
            <a:r>
              <a:rPr lang="en-US" sz="1775">
                <a:solidFill>
                  <a:srgbClr val="000000"/>
                </a:solidFill>
                <a:latin typeface="TT Ramillas"/>
                <a:ea typeface="TT Ramillas"/>
                <a:cs typeface="TT Ramillas"/>
                <a:sym typeface="TT Ramillas"/>
              </a:rPr>
              <a:t>Gestión de Variables (4 requerimientos)</a:t>
            </a:r>
          </a:p>
          <a:p>
            <a:pPr algn="l" marL="0" indent="0" lvl="0">
              <a:lnSpc>
                <a:spcPts val="2485"/>
              </a:lnSpc>
            </a:pPr>
            <a:r>
              <a:rPr lang="en-US" sz="1775">
                <a:solidFill>
                  <a:srgbClr val="000000"/>
                </a:solidFill>
                <a:latin typeface="TT Ramillas"/>
                <a:ea typeface="TT Ramillas"/>
                <a:cs typeface="TT Ramillas"/>
                <a:sym typeface="TT Ramillas"/>
              </a:rPr>
              <a:t>Configuración de variables de personalización, mapeo con datos Canvas, validación de campos requeridos.</a:t>
            </a:r>
          </a:p>
        </p:txBody>
      </p:sp>
      <p:grpSp>
        <p:nvGrpSpPr>
          <p:cNvPr name="Group 4" id="4"/>
          <p:cNvGrpSpPr/>
          <p:nvPr/>
        </p:nvGrpSpPr>
        <p:grpSpPr>
          <a:xfrm rot="0">
            <a:off x="-1307930" y="-535143"/>
            <a:ext cx="3020465" cy="11934400"/>
            <a:chOff x="0" y="0"/>
            <a:chExt cx="795514" cy="3143216"/>
          </a:xfrm>
        </p:grpSpPr>
        <p:sp>
          <p:nvSpPr>
            <p:cNvPr name="Freeform 5" id="5"/>
            <p:cNvSpPr/>
            <p:nvPr/>
          </p:nvSpPr>
          <p:spPr>
            <a:xfrm flipH="false" flipV="false" rot="0">
              <a:off x="0" y="0"/>
              <a:ext cx="795514" cy="3143216"/>
            </a:xfrm>
            <a:custGeom>
              <a:avLst/>
              <a:gdLst/>
              <a:ahLst/>
              <a:cxnLst/>
              <a:rect r="r" b="b" t="t" l="l"/>
              <a:pathLst>
                <a:path h="3143216" w="795514">
                  <a:moveTo>
                    <a:pt x="0" y="0"/>
                  </a:moveTo>
                  <a:lnTo>
                    <a:pt x="795514" y="0"/>
                  </a:lnTo>
                  <a:lnTo>
                    <a:pt x="795514" y="3143216"/>
                  </a:lnTo>
                  <a:lnTo>
                    <a:pt x="0" y="3143216"/>
                  </a:lnTo>
                  <a:close/>
                </a:path>
              </a:pathLst>
            </a:custGeom>
            <a:solidFill>
              <a:srgbClr val="094C69"/>
            </a:solidFill>
          </p:spPr>
        </p:sp>
        <p:sp>
          <p:nvSpPr>
            <p:cNvPr name="TextBox 6" id="6"/>
            <p:cNvSpPr txBox="true"/>
            <p:nvPr/>
          </p:nvSpPr>
          <p:spPr>
            <a:xfrm>
              <a:off x="0" y="-38100"/>
              <a:ext cx="795514" cy="3181316"/>
            </a:xfrm>
            <a:prstGeom prst="rect">
              <a:avLst/>
            </a:prstGeom>
          </p:spPr>
          <p:txBody>
            <a:bodyPr anchor="ctr" rtlCol="false" tIns="50800" lIns="50800" bIns="50800" rIns="50800"/>
            <a:lstStyle/>
            <a:p>
              <a:pPr algn="ctr" marL="0" indent="0" lvl="0">
                <a:lnSpc>
                  <a:spcPts val="2659"/>
                </a:lnSpc>
              </a:pPr>
            </a:p>
          </p:txBody>
        </p:sp>
      </p:grpSp>
      <p:sp>
        <p:nvSpPr>
          <p:cNvPr name="Freeform 7" id="7"/>
          <p:cNvSpPr/>
          <p:nvPr/>
        </p:nvSpPr>
        <p:spPr>
          <a:xfrm flipH="false" flipV="false" rot="-10800000">
            <a:off x="15452394" y="-293807"/>
            <a:ext cx="2339986" cy="3677778"/>
          </a:xfrm>
          <a:custGeom>
            <a:avLst/>
            <a:gdLst/>
            <a:ahLst/>
            <a:cxnLst/>
            <a:rect r="r" b="b" t="t" l="l"/>
            <a:pathLst>
              <a:path h="3677778" w="2339986">
                <a:moveTo>
                  <a:pt x="0" y="0"/>
                </a:moveTo>
                <a:lnTo>
                  <a:pt x="2339986" y="0"/>
                </a:lnTo>
                <a:lnTo>
                  <a:pt x="2339986" y="3677778"/>
                </a:lnTo>
                <a:lnTo>
                  <a:pt x="0" y="3677778"/>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4068362" y="-215044"/>
            <a:ext cx="2304584" cy="1760126"/>
          </a:xfrm>
          <a:custGeom>
            <a:avLst/>
            <a:gdLst/>
            <a:ahLst/>
            <a:cxnLst/>
            <a:rect r="r" b="b" t="t" l="l"/>
            <a:pathLst>
              <a:path h="1760126" w="2304584">
                <a:moveTo>
                  <a:pt x="0" y="0"/>
                </a:moveTo>
                <a:lnTo>
                  <a:pt x="2304584" y="0"/>
                </a:lnTo>
                <a:lnTo>
                  <a:pt x="2304584" y="1760126"/>
                </a:lnTo>
                <a:lnTo>
                  <a:pt x="0" y="1760126"/>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sp>
        <p:nvSpPr>
          <p:cNvPr name="TextBox 2" id="2"/>
          <p:cNvSpPr txBox="true"/>
          <p:nvPr/>
        </p:nvSpPr>
        <p:spPr>
          <a:xfrm rot="0">
            <a:off x="3119536" y="2568201"/>
            <a:ext cx="11581777" cy="632979"/>
          </a:xfrm>
          <a:prstGeom prst="rect">
            <a:avLst/>
          </a:prstGeom>
        </p:spPr>
        <p:txBody>
          <a:bodyPr anchor="t" rtlCol="false" tIns="0" lIns="0" bIns="0" rIns="0">
            <a:spAutoFit/>
          </a:bodyPr>
          <a:lstStyle/>
          <a:p>
            <a:pPr algn="l" marL="0" indent="0" lvl="0">
              <a:lnSpc>
                <a:spcPts val="4922"/>
              </a:lnSpc>
              <a:spcBef>
                <a:spcPct val="0"/>
              </a:spcBef>
            </a:pPr>
            <a:r>
              <a:rPr lang="en-US" sz="4318">
                <a:solidFill>
                  <a:srgbClr val="000000"/>
                </a:solidFill>
                <a:latin typeface="TT Ramillas"/>
                <a:ea typeface="TT Ramillas"/>
                <a:cs typeface="TT Ramillas"/>
                <a:sym typeface="TT Ramillas"/>
              </a:rPr>
              <a:t>REQUERIMIENTOS NO FUNCIONALES CLAVE</a:t>
            </a:r>
          </a:p>
        </p:txBody>
      </p:sp>
      <p:sp>
        <p:nvSpPr>
          <p:cNvPr name="TextBox 3" id="3"/>
          <p:cNvSpPr txBox="true"/>
          <p:nvPr/>
        </p:nvSpPr>
        <p:spPr>
          <a:xfrm rot="0">
            <a:off x="3119536" y="3869785"/>
            <a:ext cx="10458051" cy="3256050"/>
          </a:xfrm>
          <a:prstGeom prst="rect">
            <a:avLst/>
          </a:prstGeom>
        </p:spPr>
        <p:txBody>
          <a:bodyPr anchor="t" rtlCol="false" tIns="0" lIns="0" bIns="0" rIns="0">
            <a:spAutoFit/>
          </a:bodyPr>
          <a:lstStyle/>
          <a:p>
            <a:pPr algn="l" marL="0" indent="0" lvl="0">
              <a:lnSpc>
                <a:spcPts val="3232"/>
              </a:lnSpc>
            </a:pPr>
            <a:r>
              <a:rPr lang="en-US" sz="2309">
                <a:solidFill>
                  <a:srgbClr val="000000"/>
                </a:solidFill>
                <a:latin typeface="TT Ramillas"/>
                <a:ea typeface="TT Ramillas"/>
                <a:cs typeface="TT Ramillas"/>
                <a:sym typeface="TT Ramillas"/>
              </a:rPr>
              <a:t>Rendimiento: Generación de feedback en menos de 3 segundos, navegación del sistema en menos de 2 segundos para una experiencia fluida.</a:t>
            </a:r>
          </a:p>
          <a:p>
            <a:pPr algn="l" marL="0" indent="0" lvl="0">
              <a:lnSpc>
                <a:spcPts val="3232"/>
              </a:lnSpc>
            </a:pPr>
            <a:r>
              <a:rPr lang="en-US" sz="2309">
                <a:solidFill>
                  <a:srgbClr val="000000"/>
                </a:solidFill>
                <a:latin typeface="TT Ramillas"/>
                <a:ea typeface="TT Ramillas"/>
                <a:cs typeface="TT Ramillas"/>
                <a:sym typeface="TT Ramillas"/>
              </a:rPr>
              <a:t>Seguridad: Cifrado AES-256 para datos en reposo, TLS 1.3 para transmisión, cumplimiento con Ley 21.719 de protección de datos personales de Chile.</a:t>
            </a:r>
          </a:p>
          <a:p>
            <a:pPr algn="l" marL="0" indent="0" lvl="0">
              <a:lnSpc>
                <a:spcPts val="3232"/>
              </a:lnSpc>
            </a:pPr>
            <a:r>
              <a:rPr lang="en-US" sz="2309">
                <a:solidFill>
                  <a:srgbClr val="000000"/>
                </a:solidFill>
                <a:latin typeface="TT Ramillas"/>
                <a:ea typeface="TT Ramillas"/>
                <a:cs typeface="TT Ramillas"/>
                <a:sym typeface="TT Ramillas"/>
              </a:rPr>
              <a:t>Usabilidad: Conformidad con estándares WCAG 2.1 nivel AA para garantizar accesibilidad universal a todos los usuarios.</a:t>
            </a:r>
          </a:p>
          <a:p>
            <a:pPr algn="l" marL="0" indent="0" lvl="0">
              <a:lnSpc>
                <a:spcPts val="3232"/>
              </a:lnSpc>
            </a:pPr>
            <a:r>
              <a:rPr lang="en-US" sz="2309">
                <a:solidFill>
                  <a:srgbClr val="000000"/>
                </a:solidFill>
                <a:latin typeface="TT Ramillas"/>
                <a:ea typeface="TT Ramillas"/>
                <a:cs typeface="TT Ramillas"/>
                <a:sym typeface="TT Ramillas"/>
              </a:rPr>
              <a:t>Integración: Compatibilidad completa con Canvas API REST v1 y estándar LTI 1.3 para integración nativa con el LMS.</a:t>
            </a:r>
          </a:p>
        </p:txBody>
      </p:sp>
      <p:grpSp>
        <p:nvGrpSpPr>
          <p:cNvPr name="Group 4" id="4"/>
          <p:cNvGrpSpPr/>
          <p:nvPr/>
        </p:nvGrpSpPr>
        <p:grpSpPr>
          <a:xfrm rot="0">
            <a:off x="-1307930" y="-535143"/>
            <a:ext cx="3020465" cy="11934400"/>
            <a:chOff x="0" y="0"/>
            <a:chExt cx="795514" cy="3143216"/>
          </a:xfrm>
        </p:grpSpPr>
        <p:sp>
          <p:nvSpPr>
            <p:cNvPr name="Freeform 5" id="5"/>
            <p:cNvSpPr/>
            <p:nvPr/>
          </p:nvSpPr>
          <p:spPr>
            <a:xfrm flipH="false" flipV="false" rot="0">
              <a:off x="0" y="0"/>
              <a:ext cx="795514" cy="3143216"/>
            </a:xfrm>
            <a:custGeom>
              <a:avLst/>
              <a:gdLst/>
              <a:ahLst/>
              <a:cxnLst/>
              <a:rect r="r" b="b" t="t" l="l"/>
              <a:pathLst>
                <a:path h="3143216" w="795514">
                  <a:moveTo>
                    <a:pt x="0" y="0"/>
                  </a:moveTo>
                  <a:lnTo>
                    <a:pt x="795514" y="0"/>
                  </a:lnTo>
                  <a:lnTo>
                    <a:pt x="795514" y="3143216"/>
                  </a:lnTo>
                  <a:lnTo>
                    <a:pt x="0" y="3143216"/>
                  </a:lnTo>
                  <a:close/>
                </a:path>
              </a:pathLst>
            </a:custGeom>
            <a:solidFill>
              <a:srgbClr val="094C69"/>
            </a:solidFill>
          </p:spPr>
        </p:sp>
        <p:sp>
          <p:nvSpPr>
            <p:cNvPr name="TextBox 6" id="6"/>
            <p:cNvSpPr txBox="true"/>
            <p:nvPr/>
          </p:nvSpPr>
          <p:spPr>
            <a:xfrm>
              <a:off x="0" y="-38100"/>
              <a:ext cx="795514" cy="3181316"/>
            </a:xfrm>
            <a:prstGeom prst="rect">
              <a:avLst/>
            </a:prstGeom>
          </p:spPr>
          <p:txBody>
            <a:bodyPr anchor="ctr" rtlCol="false" tIns="50800" lIns="50800" bIns="50800" rIns="50800"/>
            <a:lstStyle/>
            <a:p>
              <a:pPr algn="ctr" marL="0" indent="0" lvl="0">
                <a:lnSpc>
                  <a:spcPts val="2659"/>
                </a:lnSpc>
              </a:pPr>
            </a:p>
          </p:txBody>
        </p:sp>
      </p:grpSp>
      <p:sp>
        <p:nvSpPr>
          <p:cNvPr name="Freeform 7" id="7"/>
          <p:cNvSpPr/>
          <p:nvPr/>
        </p:nvSpPr>
        <p:spPr>
          <a:xfrm flipH="false" flipV="false" rot="-10800000">
            <a:off x="15452394" y="-293807"/>
            <a:ext cx="2339986" cy="3677778"/>
          </a:xfrm>
          <a:custGeom>
            <a:avLst/>
            <a:gdLst/>
            <a:ahLst/>
            <a:cxnLst/>
            <a:rect r="r" b="b" t="t" l="l"/>
            <a:pathLst>
              <a:path h="3677778" w="2339986">
                <a:moveTo>
                  <a:pt x="0" y="0"/>
                </a:moveTo>
                <a:lnTo>
                  <a:pt x="2339986" y="0"/>
                </a:lnTo>
                <a:lnTo>
                  <a:pt x="2339986" y="3677778"/>
                </a:lnTo>
                <a:lnTo>
                  <a:pt x="0" y="3677778"/>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4068362" y="-215044"/>
            <a:ext cx="2304584" cy="1760126"/>
          </a:xfrm>
          <a:custGeom>
            <a:avLst/>
            <a:gdLst/>
            <a:ahLst/>
            <a:cxnLst/>
            <a:rect r="r" b="b" t="t" l="l"/>
            <a:pathLst>
              <a:path h="1760126" w="2304584">
                <a:moveTo>
                  <a:pt x="0" y="0"/>
                </a:moveTo>
                <a:lnTo>
                  <a:pt x="2304584" y="0"/>
                </a:lnTo>
                <a:lnTo>
                  <a:pt x="2304584" y="1760126"/>
                </a:lnTo>
                <a:lnTo>
                  <a:pt x="0" y="1760126"/>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grpSp>
        <p:nvGrpSpPr>
          <p:cNvPr name="Group 2" id="2"/>
          <p:cNvGrpSpPr/>
          <p:nvPr/>
        </p:nvGrpSpPr>
        <p:grpSpPr>
          <a:xfrm rot="0">
            <a:off x="1862173" y="4114244"/>
            <a:ext cx="4137001" cy="888605"/>
            <a:chOff x="0" y="0"/>
            <a:chExt cx="1470951" cy="315952"/>
          </a:xfrm>
        </p:grpSpPr>
        <p:sp>
          <p:nvSpPr>
            <p:cNvPr name="Freeform 3" id="3"/>
            <p:cNvSpPr/>
            <p:nvPr/>
          </p:nvSpPr>
          <p:spPr>
            <a:xfrm flipH="false" flipV="false" rot="0">
              <a:off x="0" y="0"/>
              <a:ext cx="1470951" cy="315952"/>
            </a:xfrm>
            <a:custGeom>
              <a:avLst/>
              <a:gdLst/>
              <a:ahLst/>
              <a:cxnLst/>
              <a:rect r="r" b="b" t="t" l="l"/>
              <a:pathLst>
                <a:path h="315952" w="1470951">
                  <a:moveTo>
                    <a:pt x="0" y="0"/>
                  </a:moveTo>
                  <a:lnTo>
                    <a:pt x="1470951" y="0"/>
                  </a:lnTo>
                  <a:lnTo>
                    <a:pt x="1470951" y="315952"/>
                  </a:lnTo>
                  <a:lnTo>
                    <a:pt x="0" y="315952"/>
                  </a:lnTo>
                  <a:close/>
                </a:path>
              </a:pathLst>
            </a:custGeom>
            <a:solidFill>
              <a:srgbClr val="094C69"/>
            </a:solidFill>
            <a:ln cap="sq">
              <a:noFill/>
              <a:prstDash val="solid"/>
              <a:miter/>
            </a:ln>
          </p:spPr>
        </p:sp>
        <p:sp>
          <p:nvSpPr>
            <p:cNvPr name="TextBox 4" id="4"/>
            <p:cNvSpPr txBox="true"/>
            <p:nvPr/>
          </p:nvSpPr>
          <p:spPr>
            <a:xfrm>
              <a:off x="0" y="-38100"/>
              <a:ext cx="1470951"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7142174" y="4114244"/>
            <a:ext cx="4137001" cy="888605"/>
            <a:chOff x="0" y="0"/>
            <a:chExt cx="1470951" cy="315952"/>
          </a:xfrm>
        </p:grpSpPr>
        <p:sp>
          <p:nvSpPr>
            <p:cNvPr name="Freeform 6" id="6"/>
            <p:cNvSpPr/>
            <p:nvPr/>
          </p:nvSpPr>
          <p:spPr>
            <a:xfrm flipH="false" flipV="false" rot="0">
              <a:off x="0" y="0"/>
              <a:ext cx="1470951" cy="315952"/>
            </a:xfrm>
            <a:custGeom>
              <a:avLst/>
              <a:gdLst/>
              <a:ahLst/>
              <a:cxnLst/>
              <a:rect r="r" b="b" t="t" l="l"/>
              <a:pathLst>
                <a:path h="315952" w="1470951">
                  <a:moveTo>
                    <a:pt x="0" y="0"/>
                  </a:moveTo>
                  <a:lnTo>
                    <a:pt x="1470951" y="0"/>
                  </a:lnTo>
                  <a:lnTo>
                    <a:pt x="1470951" y="315952"/>
                  </a:lnTo>
                  <a:lnTo>
                    <a:pt x="0" y="315952"/>
                  </a:lnTo>
                  <a:close/>
                </a:path>
              </a:pathLst>
            </a:custGeom>
            <a:solidFill>
              <a:srgbClr val="094C69"/>
            </a:solidFill>
            <a:ln cap="sq">
              <a:noFill/>
              <a:prstDash val="solid"/>
              <a:miter/>
            </a:ln>
          </p:spPr>
        </p:sp>
        <p:sp>
          <p:nvSpPr>
            <p:cNvPr name="TextBox 7" id="7"/>
            <p:cNvSpPr txBox="true"/>
            <p:nvPr/>
          </p:nvSpPr>
          <p:spPr>
            <a:xfrm>
              <a:off x="0" y="-38100"/>
              <a:ext cx="1470951"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2422176" y="4123632"/>
            <a:ext cx="4137001" cy="888605"/>
            <a:chOff x="0" y="0"/>
            <a:chExt cx="1470951" cy="315952"/>
          </a:xfrm>
        </p:grpSpPr>
        <p:sp>
          <p:nvSpPr>
            <p:cNvPr name="Freeform 9" id="9"/>
            <p:cNvSpPr/>
            <p:nvPr/>
          </p:nvSpPr>
          <p:spPr>
            <a:xfrm flipH="false" flipV="false" rot="0">
              <a:off x="0" y="0"/>
              <a:ext cx="1470951" cy="315952"/>
            </a:xfrm>
            <a:custGeom>
              <a:avLst/>
              <a:gdLst/>
              <a:ahLst/>
              <a:cxnLst/>
              <a:rect r="r" b="b" t="t" l="l"/>
              <a:pathLst>
                <a:path h="315952" w="1470951">
                  <a:moveTo>
                    <a:pt x="0" y="0"/>
                  </a:moveTo>
                  <a:lnTo>
                    <a:pt x="1470951" y="0"/>
                  </a:lnTo>
                  <a:lnTo>
                    <a:pt x="1470951" y="315952"/>
                  </a:lnTo>
                  <a:lnTo>
                    <a:pt x="0" y="315952"/>
                  </a:lnTo>
                  <a:close/>
                </a:path>
              </a:pathLst>
            </a:custGeom>
            <a:solidFill>
              <a:srgbClr val="094C69"/>
            </a:solidFill>
            <a:ln cap="sq">
              <a:noFill/>
              <a:prstDash val="solid"/>
              <a:miter/>
            </a:ln>
          </p:spPr>
        </p:sp>
        <p:sp>
          <p:nvSpPr>
            <p:cNvPr name="TextBox 10" id="10"/>
            <p:cNvSpPr txBox="true"/>
            <p:nvPr/>
          </p:nvSpPr>
          <p:spPr>
            <a:xfrm>
              <a:off x="0" y="-38100"/>
              <a:ext cx="1470951" cy="35405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3103458" y="2150163"/>
            <a:ext cx="1651260" cy="1720518"/>
          </a:xfrm>
          <a:custGeom>
            <a:avLst/>
            <a:gdLst/>
            <a:ahLst/>
            <a:cxnLst/>
            <a:rect r="r" b="b" t="t" l="l"/>
            <a:pathLst>
              <a:path h="1720518" w="1651260">
                <a:moveTo>
                  <a:pt x="0" y="0"/>
                </a:moveTo>
                <a:lnTo>
                  <a:pt x="1651260" y="0"/>
                </a:lnTo>
                <a:lnTo>
                  <a:pt x="1651260" y="1720518"/>
                </a:lnTo>
                <a:lnTo>
                  <a:pt x="0" y="1720518"/>
                </a:lnTo>
                <a:lnTo>
                  <a:pt x="0" y="0"/>
                </a:lnTo>
                <a:close/>
              </a:path>
            </a:pathLst>
          </a:custGeom>
          <a:blipFill>
            <a:blip r:embed="rId2"/>
            <a:stretch>
              <a:fillRect l="0" t="0" r="0" b="0"/>
            </a:stretch>
          </a:blipFill>
        </p:spPr>
      </p:sp>
      <p:sp>
        <p:nvSpPr>
          <p:cNvPr name="Freeform 12" id="12"/>
          <p:cNvSpPr/>
          <p:nvPr/>
        </p:nvSpPr>
        <p:spPr>
          <a:xfrm flipH="false" flipV="false" rot="0">
            <a:off x="13766408" y="2379683"/>
            <a:ext cx="1443257" cy="1483071"/>
          </a:xfrm>
          <a:custGeom>
            <a:avLst/>
            <a:gdLst/>
            <a:ahLst/>
            <a:cxnLst/>
            <a:rect r="r" b="b" t="t" l="l"/>
            <a:pathLst>
              <a:path h="1483071" w="1443257">
                <a:moveTo>
                  <a:pt x="0" y="0"/>
                </a:moveTo>
                <a:lnTo>
                  <a:pt x="1443257" y="0"/>
                </a:lnTo>
                <a:lnTo>
                  <a:pt x="1443257" y="1483072"/>
                </a:lnTo>
                <a:lnTo>
                  <a:pt x="0" y="1483072"/>
                </a:lnTo>
                <a:lnTo>
                  <a:pt x="0" y="0"/>
                </a:lnTo>
                <a:close/>
              </a:path>
            </a:pathLst>
          </a:custGeom>
          <a:blipFill>
            <a:blip r:embed="rId3"/>
            <a:stretch>
              <a:fillRect l="0" t="0" r="0" b="0"/>
            </a:stretch>
          </a:blipFill>
        </p:spPr>
      </p:sp>
      <p:sp>
        <p:nvSpPr>
          <p:cNvPr name="Freeform 13" id="13"/>
          <p:cNvSpPr/>
          <p:nvPr/>
        </p:nvSpPr>
        <p:spPr>
          <a:xfrm flipH="false" flipV="false" rot="0">
            <a:off x="8497441" y="2156766"/>
            <a:ext cx="1433630" cy="1653099"/>
          </a:xfrm>
          <a:custGeom>
            <a:avLst/>
            <a:gdLst/>
            <a:ahLst/>
            <a:cxnLst/>
            <a:rect r="r" b="b" t="t" l="l"/>
            <a:pathLst>
              <a:path h="1653099" w="1433630">
                <a:moveTo>
                  <a:pt x="0" y="0"/>
                </a:moveTo>
                <a:lnTo>
                  <a:pt x="1433630" y="0"/>
                </a:lnTo>
                <a:lnTo>
                  <a:pt x="1433630" y="1653100"/>
                </a:lnTo>
                <a:lnTo>
                  <a:pt x="0" y="1653100"/>
                </a:lnTo>
                <a:lnTo>
                  <a:pt x="0" y="0"/>
                </a:lnTo>
                <a:close/>
              </a:path>
            </a:pathLst>
          </a:custGeom>
          <a:blipFill>
            <a:blip r:embed="rId4"/>
            <a:stretch>
              <a:fillRect l="0" t="0" r="0" b="0"/>
            </a:stretch>
          </a:blipFill>
        </p:spPr>
      </p:sp>
      <p:sp>
        <p:nvSpPr>
          <p:cNvPr name="TextBox 14" id="14"/>
          <p:cNvSpPr txBox="true"/>
          <p:nvPr/>
        </p:nvSpPr>
        <p:spPr>
          <a:xfrm rot="0">
            <a:off x="2055146" y="4271585"/>
            <a:ext cx="3751055" cy="291842"/>
          </a:xfrm>
          <a:prstGeom prst="rect">
            <a:avLst/>
          </a:prstGeom>
        </p:spPr>
        <p:txBody>
          <a:bodyPr anchor="t" rtlCol="false" tIns="0" lIns="0" bIns="0" rIns="0">
            <a:spAutoFit/>
          </a:bodyPr>
          <a:lstStyle/>
          <a:p>
            <a:pPr algn="ctr" marL="0" indent="0" lvl="0">
              <a:lnSpc>
                <a:spcPts val="2336"/>
              </a:lnSpc>
              <a:spcBef>
                <a:spcPct val="0"/>
              </a:spcBef>
            </a:pPr>
            <a:r>
              <a:rPr lang="en-US" sz="2049">
                <a:solidFill>
                  <a:srgbClr val="FFFFFF"/>
                </a:solidFill>
                <a:latin typeface="TT Ramillas"/>
                <a:ea typeface="TT Ramillas"/>
                <a:cs typeface="TT Ramillas"/>
                <a:sym typeface="TT Ramillas"/>
              </a:rPr>
              <a:t>GENERAR FEEDBACK IA</a:t>
            </a:r>
          </a:p>
        </p:txBody>
      </p:sp>
      <p:sp>
        <p:nvSpPr>
          <p:cNvPr name="TextBox 15" id="15"/>
          <p:cNvSpPr txBox="true"/>
          <p:nvPr/>
        </p:nvSpPr>
        <p:spPr>
          <a:xfrm rot="0">
            <a:off x="1862173" y="5417904"/>
            <a:ext cx="4137001" cy="903732"/>
          </a:xfrm>
          <a:prstGeom prst="rect">
            <a:avLst/>
          </a:prstGeom>
        </p:spPr>
        <p:txBody>
          <a:bodyPr anchor="t" rtlCol="false" tIns="0" lIns="0" bIns="0" rIns="0">
            <a:spAutoFit/>
          </a:bodyPr>
          <a:lstStyle/>
          <a:p>
            <a:pPr algn="l" marL="0" indent="0" lvl="0">
              <a:lnSpc>
                <a:spcPts val="1824"/>
              </a:lnSpc>
              <a:spcBef>
                <a:spcPct val="0"/>
              </a:spcBef>
            </a:pPr>
            <a:r>
              <a:rPr lang="en-US" sz="1200" strike="noStrike" u="none">
                <a:solidFill>
                  <a:srgbClr val="000000"/>
                </a:solidFill>
                <a:latin typeface="TT Ramillas"/>
                <a:ea typeface="TT Ramillas"/>
                <a:cs typeface="TT Ramillas"/>
                <a:sym typeface="TT Ramillas"/>
              </a:rPr>
              <a:t>El sistema genera automáticamente retroalimentación personalizada utilizando inteligencia artificial, considerando el historial académico del estudiante y el contexto de la evaluación para mensajes diferenciados.</a:t>
            </a:r>
          </a:p>
        </p:txBody>
      </p:sp>
      <p:sp>
        <p:nvSpPr>
          <p:cNvPr name="TextBox 16" id="16"/>
          <p:cNvSpPr txBox="true"/>
          <p:nvPr/>
        </p:nvSpPr>
        <p:spPr>
          <a:xfrm rot="0">
            <a:off x="7356046" y="4278547"/>
            <a:ext cx="3709257" cy="291842"/>
          </a:xfrm>
          <a:prstGeom prst="rect">
            <a:avLst/>
          </a:prstGeom>
        </p:spPr>
        <p:txBody>
          <a:bodyPr anchor="t" rtlCol="false" tIns="0" lIns="0" bIns="0" rIns="0">
            <a:spAutoFit/>
          </a:bodyPr>
          <a:lstStyle/>
          <a:p>
            <a:pPr algn="ctr" marL="0" indent="0" lvl="0">
              <a:lnSpc>
                <a:spcPts val="2336"/>
              </a:lnSpc>
              <a:spcBef>
                <a:spcPct val="0"/>
              </a:spcBef>
            </a:pPr>
            <a:r>
              <a:rPr lang="en-US" sz="2049">
                <a:solidFill>
                  <a:srgbClr val="FFFFFF"/>
                </a:solidFill>
                <a:latin typeface="TT Ramillas"/>
                <a:ea typeface="TT Ramillas"/>
                <a:cs typeface="TT Ramillas"/>
                <a:sym typeface="TT Ramillas"/>
              </a:rPr>
              <a:t>GESTIONAR PLANTILLAS</a:t>
            </a:r>
          </a:p>
        </p:txBody>
      </p:sp>
      <p:sp>
        <p:nvSpPr>
          <p:cNvPr name="TextBox 17" id="17"/>
          <p:cNvSpPr txBox="true"/>
          <p:nvPr/>
        </p:nvSpPr>
        <p:spPr>
          <a:xfrm rot="0">
            <a:off x="7142174" y="5417904"/>
            <a:ext cx="4137001" cy="903732"/>
          </a:xfrm>
          <a:prstGeom prst="rect">
            <a:avLst/>
          </a:prstGeom>
        </p:spPr>
        <p:txBody>
          <a:bodyPr anchor="t" rtlCol="false" tIns="0" lIns="0" bIns="0" rIns="0">
            <a:spAutoFit/>
          </a:bodyPr>
          <a:lstStyle/>
          <a:p>
            <a:pPr algn="l" marL="0" indent="0" lvl="0">
              <a:lnSpc>
                <a:spcPts val="1824"/>
              </a:lnSpc>
              <a:spcBef>
                <a:spcPct val="0"/>
              </a:spcBef>
            </a:pPr>
            <a:r>
              <a:rPr lang="en-US" sz="1200" strike="noStrike" u="none">
                <a:solidFill>
                  <a:srgbClr val="000000"/>
                </a:solidFill>
                <a:latin typeface="TT Ramillas"/>
                <a:ea typeface="TT Ramillas"/>
                <a:cs typeface="TT Ramillas"/>
                <a:sym typeface="TT Ramillas"/>
              </a:rPr>
              <a:t>Los docentes pueden crear, editar y administrar plantillas de feedback reutilizables, configurando variables dinámicas y mensajes predefinidos según rangos de calificación específicos.</a:t>
            </a:r>
          </a:p>
        </p:txBody>
      </p:sp>
      <p:sp>
        <p:nvSpPr>
          <p:cNvPr name="TextBox 18" id="18"/>
          <p:cNvSpPr txBox="true"/>
          <p:nvPr/>
        </p:nvSpPr>
        <p:spPr>
          <a:xfrm rot="0">
            <a:off x="12714442" y="4271448"/>
            <a:ext cx="3552468" cy="321660"/>
          </a:xfrm>
          <a:prstGeom prst="rect">
            <a:avLst/>
          </a:prstGeom>
        </p:spPr>
        <p:txBody>
          <a:bodyPr anchor="t" rtlCol="false" tIns="0" lIns="0" bIns="0" rIns="0">
            <a:spAutoFit/>
          </a:bodyPr>
          <a:lstStyle/>
          <a:p>
            <a:pPr algn="ctr" marL="0" indent="0" lvl="0">
              <a:lnSpc>
                <a:spcPts val="2522"/>
              </a:lnSpc>
              <a:spcBef>
                <a:spcPct val="0"/>
              </a:spcBef>
            </a:pPr>
            <a:r>
              <a:rPr lang="en-US" sz="2212">
                <a:solidFill>
                  <a:srgbClr val="FFFFFF"/>
                </a:solidFill>
                <a:latin typeface="TT Ramillas"/>
                <a:ea typeface="TT Ramillas"/>
                <a:cs typeface="TT Ramillas"/>
                <a:sym typeface="TT Ramillas"/>
              </a:rPr>
              <a:t>INTEGRAR SPEEDGRADER</a:t>
            </a:r>
          </a:p>
        </p:txBody>
      </p:sp>
      <p:sp>
        <p:nvSpPr>
          <p:cNvPr name="TextBox 19" id="19"/>
          <p:cNvSpPr txBox="true"/>
          <p:nvPr/>
        </p:nvSpPr>
        <p:spPr>
          <a:xfrm rot="0">
            <a:off x="12422176" y="5465529"/>
            <a:ext cx="4137001" cy="903732"/>
          </a:xfrm>
          <a:prstGeom prst="rect">
            <a:avLst/>
          </a:prstGeom>
        </p:spPr>
        <p:txBody>
          <a:bodyPr anchor="t" rtlCol="false" tIns="0" lIns="0" bIns="0" rIns="0">
            <a:spAutoFit/>
          </a:bodyPr>
          <a:lstStyle/>
          <a:p>
            <a:pPr algn="l" marL="0" indent="0" lvl="0">
              <a:lnSpc>
                <a:spcPts val="1824"/>
              </a:lnSpc>
              <a:spcBef>
                <a:spcPct val="0"/>
              </a:spcBef>
            </a:pPr>
            <a:r>
              <a:rPr lang="en-US" sz="1200" strike="noStrike" u="none">
                <a:solidFill>
                  <a:srgbClr val="000000"/>
                </a:solidFill>
                <a:latin typeface="TT Ramillas"/>
                <a:ea typeface="TT Ramillas"/>
                <a:cs typeface="TT Ramillas"/>
                <a:sym typeface="TT Ramillas"/>
              </a:rPr>
              <a:t>El plugin se integra nativamente con SpeedGrader de Canvas mediante LTI 1.3, permitiendo a los profesores revisar y aprobar feedback directamente desde su flujo de calificación habitual.</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grpSp>
        <p:nvGrpSpPr>
          <p:cNvPr name="Group 2" id="2"/>
          <p:cNvGrpSpPr/>
          <p:nvPr/>
        </p:nvGrpSpPr>
        <p:grpSpPr>
          <a:xfrm rot="0">
            <a:off x="1862173" y="4114244"/>
            <a:ext cx="4137001" cy="888605"/>
            <a:chOff x="0" y="0"/>
            <a:chExt cx="1470951" cy="315952"/>
          </a:xfrm>
        </p:grpSpPr>
        <p:sp>
          <p:nvSpPr>
            <p:cNvPr name="Freeform 3" id="3"/>
            <p:cNvSpPr/>
            <p:nvPr/>
          </p:nvSpPr>
          <p:spPr>
            <a:xfrm flipH="false" flipV="false" rot="0">
              <a:off x="0" y="0"/>
              <a:ext cx="1470951" cy="315952"/>
            </a:xfrm>
            <a:custGeom>
              <a:avLst/>
              <a:gdLst/>
              <a:ahLst/>
              <a:cxnLst/>
              <a:rect r="r" b="b" t="t" l="l"/>
              <a:pathLst>
                <a:path h="315952" w="1470951">
                  <a:moveTo>
                    <a:pt x="0" y="0"/>
                  </a:moveTo>
                  <a:lnTo>
                    <a:pt x="1470951" y="0"/>
                  </a:lnTo>
                  <a:lnTo>
                    <a:pt x="1470951" y="315952"/>
                  </a:lnTo>
                  <a:lnTo>
                    <a:pt x="0" y="315952"/>
                  </a:lnTo>
                  <a:close/>
                </a:path>
              </a:pathLst>
            </a:custGeom>
            <a:solidFill>
              <a:srgbClr val="094C69"/>
            </a:solidFill>
            <a:ln cap="sq">
              <a:noFill/>
              <a:prstDash val="solid"/>
              <a:miter/>
            </a:ln>
          </p:spPr>
        </p:sp>
        <p:sp>
          <p:nvSpPr>
            <p:cNvPr name="TextBox 4" id="4"/>
            <p:cNvSpPr txBox="true"/>
            <p:nvPr/>
          </p:nvSpPr>
          <p:spPr>
            <a:xfrm>
              <a:off x="0" y="-38100"/>
              <a:ext cx="1470951"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7142174" y="4114244"/>
            <a:ext cx="4137001" cy="888605"/>
            <a:chOff x="0" y="0"/>
            <a:chExt cx="1470951" cy="315952"/>
          </a:xfrm>
        </p:grpSpPr>
        <p:sp>
          <p:nvSpPr>
            <p:cNvPr name="Freeform 6" id="6"/>
            <p:cNvSpPr/>
            <p:nvPr/>
          </p:nvSpPr>
          <p:spPr>
            <a:xfrm flipH="false" flipV="false" rot="0">
              <a:off x="0" y="0"/>
              <a:ext cx="1470951" cy="315952"/>
            </a:xfrm>
            <a:custGeom>
              <a:avLst/>
              <a:gdLst/>
              <a:ahLst/>
              <a:cxnLst/>
              <a:rect r="r" b="b" t="t" l="l"/>
              <a:pathLst>
                <a:path h="315952" w="1470951">
                  <a:moveTo>
                    <a:pt x="0" y="0"/>
                  </a:moveTo>
                  <a:lnTo>
                    <a:pt x="1470951" y="0"/>
                  </a:lnTo>
                  <a:lnTo>
                    <a:pt x="1470951" y="315952"/>
                  </a:lnTo>
                  <a:lnTo>
                    <a:pt x="0" y="315952"/>
                  </a:lnTo>
                  <a:close/>
                </a:path>
              </a:pathLst>
            </a:custGeom>
            <a:solidFill>
              <a:srgbClr val="094C69"/>
            </a:solidFill>
            <a:ln cap="sq">
              <a:noFill/>
              <a:prstDash val="solid"/>
              <a:miter/>
            </a:ln>
          </p:spPr>
        </p:sp>
        <p:sp>
          <p:nvSpPr>
            <p:cNvPr name="TextBox 7" id="7"/>
            <p:cNvSpPr txBox="true"/>
            <p:nvPr/>
          </p:nvSpPr>
          <p:spPr>
            <a:xfrm>
              <a:off x="0" y="-38100"/>
              <a:ext cx="1470951"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2422176" y="4123632"/>
            <a:ext cx="4137001" cy="888605"/>
            <a:chOff x="0" y="0"/>
            <a:chExt cx="1470951" cy="315952"/>
          </a:xfrm>
        </p:grpSpPr>
        <p:sp>
          <p:nvSpPr>
            <p:cNvPr name="Freeform 9" id="9"/>
            <p:cNvSpPr/>
            <p:nvPr/>
          </p:nvSpPr>
          <p:spPr>
            <a:xfrm flipH="false" flipV="false" rot="0">
              <a:off x="0" y="0"/>
              <a:ext cx="1470951" cy="315952"/>
            </a:xfrm>
            <a:custGeom>
              <a:avLst/>
              <a:gdLst/>
              <a:ahLst/>
              <a:cxnLst/>
              <a:rect r="r" b="b" t="t" l="l"/>
              <a:pathLst>
                <a:path h="315952" w="1470951">
                  <a:moveTo>
                    <a:pt x="0" y="0"/>
                  </a:moveTo>
                  <a:lnTo>
                    <a:pt x="1470951" y="0"/>
                  </a:lnTo>
                  <a:lnTo>
                    <a:pt x="1470951" y="315952"/>
                  </a:lnTo>
                  <a:lnTo>
                    <a:pt x="0" y="315952"/>
                  </a:lnTo>
                  <a:close/>
                </a:path>
              </a:pathLst>
            </a:custGeom>
            <a:solidFill>
              <a:srgbClr val="094C69"/>
            </a:solidFill>
            <a:ln cap="sq">
              <a:noFill/>
              <a:prstDash val="solid"/>
              <a:miter/>
            </a:ln>
          </p:spPr>
        </p:sp>
        <p:sp>
          <p:nvSpPr>
            <p:cNvPr name="TextBox 10" id="10"/>
            <p:cNvSpPr txBox="true"/>
            <p:nvPr/>
          </p:nvSpPr>
          <p:spPr>
            <a:xfrm>
              <a:off x="0" y="-38100"/>
              <a:ext cx="1470951" cy="35405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3207361" y="2178578"/>
            <a:ext cx="1447133" cy="1658831"/>
          </a:xfrm>
          <a:custGeom>
            <a:avLst/>
            <a:gdLst/>
            <a:ahLst/>
            <a:cxnLst/>
            <a:rect r="r" b="b" t="t" l="l"/>
            <a:pathLst>
              <a:path h="1658831" w="1447133">
                <a:moveTo>
                  <a:pt x="0" y="0"/>
                </a:moveTo>
                <a:lnTo>
                  <a:pt x="1447132" y="0"/>
                </a:lnTo>
                <a:lnTo>
                  <a:pt x="1447132" y="1658831"/>
                </a:lnTo>
                <a:lnTo>
                  <a:pt x="0" y="1658831"/>
                </a:lnTo>
                <a:lnTo>
                  <a:pt x="0" y="0"/>
                </a:lnTo>
                <a:close/>
              </a:path>
            </a:pathLst>
          </a:custGeom>
          <a:blipFill>
            <a:blip r:embed="rId2"/>
            <a:stretch>
              <a:fillRect l="0" t="0" r="0" b="0"/>
            </a:stretch>
          </a:blipFill>
        </p:spPr>
      </p:sp>
      <p:sp>
        <p:nvSpPr>
          <p:cNvPr name="Freeform 12" id="12"/>
          <p:cNvSpPr/>
          <p:nvPr/>
        </p:nvSpPr>
        <p:spPr>
          <a:xfrm flipH="false" flipV="false" rot="0">
            <a:off x="13333410" y="2095832"/>
            <a:ext cx="2171410" cy="1638356"/>
          </a:xfrm>
          <a:custGeom>
            <a:avLst/>
            <a:gdLst/>
            <a:ahLst/>
            <a:cxnLst/>
            <a:rect r="r" b="b" t="t" l="l"/>
            <a:pathLst>
              <a:path h="1638356" w="2171410">
                <a:moveTo>
                  <a:pt x="0" y="0"/>
                </a:moveTo>
                <a:lnTo>
                  <a:pt x="2171410" y="0"/>
                </a:lnTo>
                <a:lnTo>
                  <a:pt x="2171410" y="1638356"/>
                </a:lnTo>
                <a:lnTo>
                  <a:pt x="0" y="1638356"/>
                </a:lnTo>
                <a:lnTo>
                  <a:pt x="0" y="0"/>
                </a:lnTo>
                <a:close/>
              </a:path>
            </a:pathLst>
          </a:custGeom>
          <a:blipFill>
            <a:blip r:embed="rId3"/>
            <a:stretch>
              <a:fillRect l="0" t="0" r="0" b="0"/>
            </a:stretch>
          </a:blipFill>
        </p:spPr>
      </p:sp>
      <p:sp>
        <p:nvSpPr>
          <p:cNvPr name="Freeform 13" id="13"/>
          <p:cNvSpPr/>
          <p:nvPr/>
        </p:nvSpPr>
        <p:spPr>
          <a:xfrm flipH="false" flipV="false" rot="0">
            <a:off x="8275474" y="1974219"/>
            <a:ext cx="1682902" cy="1902246"/>
          </a:xfrm>
          <a:custGeom>
            <a:avLst/>
            <a:gdLst/>
            <a:ahLst/>
            <a:cxnLst/>
            <a:rect r="r" b="b" t="t" l="l"/>
            <a:pathLst>
              <a:path h="1902246" w="1682902">
                <a:moveTo>
                  <a:pt x="0" y="0"/>
                </a:moveTo>
                <a:lnTo>
                  <a:pt x="1682902" y="0"/>
                </a:lnTo>
                <a:lnTo>
                  <a:pt x="1682902" y="1902246"/>
                </a:lnTo>
                <a:lnTo>
                  <a:pt x="0" y="1902246"/>
                </a:lnTo>
                <a:lnTo>
                  <a:pt x="0" y="0"/>
                </a:lnTo>
                <a:close/>
              </a:path>
            </a:pathLst>
          </a:custGeom>
          <a:blipFill>
            <a:blip r:embed="rId4"/>
            <a:stretch>
              <a:fillRect l="0" t="0" r="0" b="0"/>
            </a:stretch>
          </a:blipFill>
        </p:spPr>
      </p:sp>
      <p:sp>
        <p:nvSpPr>
          <p:cNvPr name="TextBox 14" id="14"/>
          <p:cNvSpPr txBox="true"/>
          <p:nvPr/>
        </p:nvSpPr>
        <p:spPr>
          <a:xfrm rot="0">
            <a:off x="2055146" y="4271585"/>
            <a:ext cx="3751055" cy="351998"/>
          </a:xfrm>
          <a:prstGeom prst="rect">
            <a:avLst/>
          </a:prstGeom>
        </p:spPr>
        <p:txBody>
          <a:bodyPr anchor="t" rtlCol="false" tIns="0" lIns="0" bIns="0" rIns="0">
            <a:spAutoFit/>
          </a:bodyPr>
          <a:lstStyle/>
          <a:p>
            <a:pPr algn="ctr" marL="0" indent="0" lvl="0">
              <a:lnSpc>
                <a:spcPts val="2786"/>
              </a:lnSpc>
              <a:spcBef>
                <a:spcPct val="0"/>
              </a:spcBef>
            </a:pPr>
            <a:r>
              <a:rPr lang="en-US" sz="2443">
                <a:solidFill>
                  <a:srgbClr val="FFFFFF"/>
                </a:solidFill>
                <a:latin typeface="TT Ramillas"/>
                <a:ea typeface="TT Ramillas"/>
                <a:cs typeface="TT Ramillas"/>
                <a:sym typeface="TT Ramillas"/>
              </a:rPr>
              <a:t>REVISIÓN Y APROBACIÓN</a:t>
            </a:r>
          </a:p>
        </p:txBody>
      </p:sp>
      <p:sp>
        <p:nvSpPr>
          <p:cNvPr name="TextBox 15" id="15"/>
          <p:cNvSpPr txBox="true"/>
          <p:nvPr/>
        </p:nvSpPr>
        <p:spPr>
          <a:xfrm rot="0">
            <a:off x="1862173" y="5398854"/>
            <a:ext cx="4137001" cy="2151634"/>
          </a:xfrm>
          <a:prstGeom prst="rect">
            <a:avLst/>
          </a:prstGeom>
        </p:spPr>
        <p:txBody>
          <a:bodyPr anchor="t" rtlCol="false" tIns="0" lIns="0" bIns="0" rIns="0">
            <a:spAutoFit/>
          </a:bodyPr>
          <a:lstStyle/>
          <a:p>
            <a:pPr algn="l" marL="0" indent="0" lvl="0">
              <a:lnSpc>
                <a:spcPts val="2888"/>
              </a:lnSpc>
              <a:spcBef>
                <a:spcPct val="0"/>
              </a:spcBef>
            </a:pPr>
            <a:r>
              <a:rPr lang="en-US" sz="1900" strike="noStrike" u="none">
                <a:solidFill>
                  <a:srgbClr val="000000"/>
                </a:solidFill>
                <a:latin typeface="TT Ramillas"/>
                <a:ea typeface="TT Ramillas"/>
                <a:cs typeface="TT Ramillas"/>
                <a:sym typeface="TT Ramillas"/>
              </a:rPr>
              <a:t>Panel de revisión docente que permite aprobar, editar o rechazar feedback generado por IA antes de su envío al estudiante. Control de calidad con historial de modificaciones y justificaciones.</a:t>
            </a:r>
          </a:p>
        </p:txBody>
      </p:sp>
      <p:sp>
        <p:nvSpPr>
          <p:cNvPr name="TextBox 16" id="16"/>
          <p:cNvSpPr txBox="true"/>
          <p:nvPr/>
        </p:nvSpPr>
        <p:spPr>
          <a:xfrm rot="0">
            <a:off x="7356046" y="4278547"/>
            <a:ext cx="3709257" cy="351998"/>
          </a:xfrm>
          <a:prstGeom prst="rect">
            <a:avLst/>
          </a:prstGeom>
        </p:spPr>
        <p:txBody>
          <a:bodyPr anchor="t" rtlCol="false" tIns="0" lIns="0" bIns="0" rIns="0">
            <a:spAutoFit/>
          </a:bodyPr>
          <a:lstStyle/>
          <a:p>
            <a:pPr algn="ctr" marL="0" indent="0" lvl="0">
              <a:lnSpc>
                <a:spcPts val="2786"/>
              </a:lnSpc>
              <a:spcBef>
                <a:spcPct val="0"/>
              </a:spcBef>
            </a:pPr>
            <a:r>
              <a:rPr lang="en-US" sz="2443">
                <a:solidFill>
                  <a:srgbClr val="FFFFFF"/>
                </a:solidFill>
                <a:latin typeface="TT Ramillas"/>
                <a:ea typeface="TT Ramillas"/>
                <a:cs typeface="TT Ramillas"/>
                <a:sym typeface="TT Ramillas"/>
              </a:rPr>
              <a:t>VISTA ESTUDIANTIL</a:t>
            </a:r>
          </a:p>
        </p:txBody>
      </p:sp>
      <p:sp>
        <p:nvSpPr>
          <p:cNvPr name="TextBox 17" id="17"/>
          <p:cNvSpPr txBox="true"/>
          <p:nvPr/>
        </p:nvSpPr>
        <p:spPr>
          <a:xfrm rot="0">
            <a:off x="7142174" y="5398854"/>
            <a:ext cx="4137001" cy="2151634"/>
          </a:xfrm>
          <a:prstGeom prst="rect">
            <a:avLst/>
          </a:prstGeom>
        </p:spPr>
        <p:txBody>
          <a:bodyPr anchor="t" rtlCol="false" tIns="0" lIns="0" bIns="0" rIns="0">
            <a:spAutoFit/>
          </a:bodyPr>
          <a:lstStyle/>
          <a:p>
            <a:pPr algn="l" marL="0" indent="0" lvl="0">
              <a:lnSpc>
                <a:spcPts val="2888"/>
              </a:lnSpc>
              <a:spcBef>
                <a:spcPct val="0"/>
              </a:spcBef>
            </a:pPr>
            <a:r>
              <a:rPr lang="en-US" sz="1900" strike="noStrike" u="none">
                <a:solidFill>
                  <a:srgbClr val="000000"/>
                </a:solidFill>
                <a:latin typeface="TT Ramillas"/>
                <a:ea typeface="TT Ramillas"/>
                <a:cs typeface="TT Ramillas"/>
                <a:sym typeface="TT Ramillas"/>
              </a:rPr>
              <a:t>Interfaz intuitiva donde el estudiante visualiza su feedback personalizado, historial de retroalimentaciones anteriores y recursos de apoyo recomendados según su desempeño académico.</a:t>
            </a:r>
          </a:p>
        </p:txBody>
      </p:sp>
      <p:sp>
        <p:nvSpPr>
          <p:cNvPr name="TextBox 18" id="18"/>
          <p:cNvSpPr txBox="true"/>
          <p:nvPr/>
        </p:nvSpPr>
        <p:spPr>
          <a:xfrm rot="0">
            <a:off x="12714442" y="4280973"/>
            <a:ext cx="3552468" cy="352020"/>
          </a:xfrm>
          <a:prstGeom prst="rect">
            <a:avLst/>
          </a:prstGeom>
        </p:spPr>
        <p:txBody>
          <a:bodyPr anchor="t" rtlCol="false" tIns="0" lIns="0" bIns="0" rIns="0">
            <a:spAutoFit/>
          </a:bodyPr>
          <a:lstStyle/>
          <a:p>
            <a:pPr algn="ctr" marL="0" indent="0" lvl="0">
              <a:lnSpc>
                <a:spcPts val="2789"/>
              </a:lnSpc>
              <a:spcBef>
                <a:spcPct val="0"/>
              </a:spcBef>
            </a:pPr>
            <a:r>
              <a:rPr lang="en-US" sz="2446">
                <a:solidFill>
                  <a:srgbClr val="FFFFFF"/>
                </a:solidFill>
                <a:latin typeface="TT Ramillas"/>
                <a:ea typeface="TT Ramillas"/>
                <a:cs typeface="TT Ramillas"/>
                <a:sym typeface="TT Ramillas"/>
              </a:rPr>
              <a:t>REPORTES Y VARIABLES</a:t>
            </a:r>
          </a:p>
        </p:txBody>
      </p:sp>
      <p:sp>
        <p:nvSpPr>
          <p:cNvPr name="TextBox 19" id="19"/>
          <p:cNvSpPr txBox="true"/>
          <p:nvPr/>
        </p:nvSpPr>
        <p:spPr>
          <a:xfrm rot="0">
            <a:off x="12422176" y="5446479"/>
            <a:ext cx="4137001" cy="2151634"/>
          </a:xfrm>
          <a:prstGeom prst="rect">
            <a:avLst/>
          </a:prstGeom>
        </p:spPr>
        <p:txBody>
          <a:bodyPr anchor="t" rtlCol="false" tIns="0" lIns="0" bIns="0" rIns="0">
            <a:spAutoFit/>
          </a:bodyPr>
          <a:lstStyle/>
          <a:p>
            <a:pPr algn="l" marL="0" indent="0" lvl="0">
              <a:lnSpc>
                <a:spcPts val="2888"/>
              </a:lnSpc>
              <a:spcBef>
                <a:spcPct val="0"/>
              </a:spcBef>
            </a:pPr>
            <a:r>
              <a:rPr lang="en-US" sz="1900" strike="noStrike" u="none">
                <a:solidFill>
                  <a:srgbClr val="000000"/>
                </a:solidFill>
                <a:latin typeface="TT Ramillas"/>
                <a:ea typeface="TT Ramillas"/>
                <a:cs typeface="TT Ramillas"/>
                <a:sym typeface="TT Ramillas"/>
              </a:rPr>
              <a:t>Configuración de variables de personalización del feedback y generación de reportes estadísticos. Métricas de uso, efectividad del feedback y análisis de tendencias académicas por curso.</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sp>
        <p:nvSpPr>
          <p:cNvPr name="TextBox 2" id="2"/>
          <p:cNvSpPr txBox="true"/>
          <p:nvPr/>
        </p:nvSpPr>
        <p:spPr>
          <a:xfrm rot="0">
            <a:off x="3119536" y="2587251"/>
            <a:ext cx="11581777" cy="704161"/>
          </a:xfrm>
          <a:prstGeom prst="rect">
            <a:avLst/>
          </a:prstGeom>
        </p:spPr>
        <p:txBody>
          <a:bodyPr anchor="t" rtlCol="false" tIns="0" lIns="0" bIns="0" rIns="0">
            <a:spAutoFit/>
          </a:bodyPr>
          <a:lstStyle/>
          <a:p>
            <a:pPr algn="l" marL="0" indent="0" lvl="0">
              <a:lnSpc>
                <a:spcPts val="5596"/>
              </a:lnSpc>
              <a:spcBef>
                <a:spcPct val="0"/>
              </a:spcBef>
            </a:pPr>
            <a:r>
              <a:rPr lang="en-US" sz="4909">
                <a:solidFill>
                  <a:srgbClr val="000000"/>
                </a:solidFill>
                <a:latin typeface="TT Ramillas"/>
                <a:ea typeface="TT Ramillas"/>
                <a:cs typeface="TT Ramillas"/>
                <a:sym typeface="TT Ramillas"/>
              </a:rPr>
              <a:t>OBJETIVOS DEL PROYECTO</a:t>
            </a:r>
          </a:p>
        </p:txBody>
      </p:sp>
      <p:sp>
        <p:nvSpPr>
          <p:cNvPr name="TextBox 3" id="3"/>
          <p:cNvSpPr txBox="true"/>
          <p:nvPr/>
        </p:nvSpPr>
        <p:spPr>
          <a:xfrm rot="0">
            <a:off x="3119536" y="3869785"/>
            <a:ext cx="10458051" cy="5650542"/>
          </a:xfrm>
          <a:prstGeom prst="rect">
            <a:avLst/>
          </a:prstGeom>
        </p:spPr>
        <p:txBody>
          <a:bodyPr anchor="t" rtlCol="false" tIns="0" lIns="0" bIns="0" rIns="0">
            <a:spAutoFit/>
          </a:bodyPr>
          <a:lstStyle/>
          <a:p>
            <a:pPr algn="l" marL="0" indent="0" lvl="0">
              <a:lnSpc>
                <a:spcPts val="2502"/>
              </a:lnSpc>
            </a:pPr>
            <a:r>
              <a:rPr lang="en-US" sz="1787">
                <a:solidFill>
                  <a:srgbClr val="000000"/>
                </a:solidFill>
                <a:latin typeface="TT Ramillas"/>
                <a:ea typeface="TT Ramillas"/>
                <a:cs typeface="TT Ramillas"/>
                <a:sym typeface="TT Ramillas"/>
              </a:rPr>
              <a:t>Objetivo General:</a:t>
            </a:r>
          </a:p>
          <a:p>
            <a:pPr algn="l" marL="0" indent="0" lvl="0">
              <a:lnSpc>
                <a:spcPts val="2502"/>
              </a:lnSpc>
            </a:pPr>
            <a:r>
              <a:rPr lang="en-US" sz="1787">
                <a:solidFill>
                  <a:srgbClr val="000000"/>
                </a:solidFill>
                <a:latin typeface="TT Ramillas"/>
                <a:ea typeface="TT Ramillas"/>
                <a:cs typeface="TT Ramillas"/>
                <a:sym typeface="TT Ramillas"/>
              </a:rPr>
              <a:t>Desarrollar un plugin de feedback adaptativo integrado con Canvas LMS, utilizando inteligencia artificial y el estándar LTI 1.3 para personalizar la retroalimentación académica en la universidad andres bello.</a:t>
            </a:r>
          </a:p>
          <a:p>
            <a:pPr algn="l" marL="0" indent="0" lvl="0">
              <a:lnSpc>
                <a:spcPts val="2502"/>
              </a:lnSpc>
            </a:pPr>
            <a:r>
              <a:rPr lang="en-US" sz="1787">
                <a:solidFill>
                  <a:srgbClr val="000000"/>
                </a:solidFill>
                <a:latin typeface="TT Ramillas"/>
                <a:ea typeface="TT Ramillas"/>
                <a:cs typeface="TT Ramillas"/>
                <a:sym typeface="TT Ramillas"/>
              </a:rPr>
              <a:t>Objetivos Específicos:</a:t>
            </a:r>
          </a:p>
          <a:p>
            <a:pPr algn="l" marL="0" indent="0" lvl="0">
              <a:lnSpc>
                <a:spcPts val="2502"/>
              </a:lnSpc>
            </a:pPr>
            <a:r>
              <a:rPr lang="en-US" sz="1787">
                <a:solidFill>
                  <a:srgbClr val="000000"/>
                </a:solidFill>
                <a:latin typeface="TT Ramillas"/>
                <a:ea typeface="TT Ramillas"/>
                <a:cs typeface="TT Ramillas"/>
                <a:sym typeface="TT Ramillas"/>
              </a:rPr>
              <a:t>• Capturar y documentar procesos actuales de retroalimentación en UNAB</a:t>
            </a:r>
          </a:p>
          <a:p>
            <a:pPr algn="l" marL="0" indent="0" lvl="0">
              <a:lnSpc>
                <a:spcPts val="2502"/>
              </a:lnSpc>
            </a:pPr>
            <a:r>
              <a:rPr lang="en-US" sz="1787">
                <a:solidFill>
                  <a:srgbClr val="000000"/>
                </a:solidFill>
                <a:latin typeface="TT Ramillas"/>
                <a:ea typeface="TT Ramillas"/>
                <a:cs typeface="TT Ramillas"/>
                <a:sym typeface="TT Ramillas"/>
              </a:rPr>
              <a:t>• Diseñar arquitectura modular compatible con Canvas API REST v1</a:t>
            </a:r>
          </a:p>
          <a:p>
            <a:pPr algn="l" marL="0" indent="0" lvl="0">
              <a:lnSpc>
                <a:spcPts val="2502"/>
              </a:lnSpc>
            </a:pPr>
            <a:r>
              <a:rPr lang="en-US" sz="1787">
                <a:solidFill>
                  <a:srgbClr val="000000"/>
                </a:solidFill>
                <a:latin typeface="TT Ramillas"/>
                <a:ea typeface="TT Ramillas"/>
                <a:cs typeface="TT Ramillas"/>
                <a:sym typeface="TT Ramillas"/>
              </a:rPr>
              <a:t>• Implementar generación automática de feedback mediante IA</a:t>
            </a:r>
          </a:p>
          <a:p>
            <a:pPr algn="l" marL="0" indent="0" lvl="0">
              <a:lnSpc>
                <a:spcPts val="2502"/>
              </a:lnSpc>
            </a:pPr>
            <a:r>
              <a:rPr lang="en-US" sz="1787">
                <a:solidFill>
                  <a:srgbClr val="000000"/>
                </a:solidFill>
                <a:latin typeface="TT Ramillas"/>
                <a:ea typeface="TT Ramillas"/>
                <a:cs typeface="TT Ramillas"/>
                <a:sym typeface="TT Ramillas"/>
              </a:rPr>
              <a:t>• Desarrollar panel de revisión y aprobación para docentes</a:t>
            </a:r>
          </a:p>
          <a:p>
            <a:pPr algn="l" marL="0" indent="0" lvl="0">
              <a:lnSpc>
                <a:spcPts val="2502"/>
              </a:lnSpc>
            </a:pPr>
            <a:r>
              <a:rPr lang="en-US" sz="1787">
                <a:solidFill>
                  <a:srgbClr val="000000"/>
                </a:solidFill>
                <a:latin typeface="TT Ramillas"/>
                <a:ea typeface="TT Ramillas"/>
                <a:cs typeface="TT Ramillas"/>
                <a:sym typeface="TT Ramillas"/>
              </a:rPr>
              <a:t>• Crear sistema de plantillas personalizables por asignatura</a:t>
            </a:r>
          </a:p>
          <a:p>
            <a:pPr algn="l" marL="0" indent="0" lvl="0">
              <a:lnSpc>
                <a:spcPts val="2502"/>
              </a:lnSpc>
            </a:pPr>
            <a:r>
              <a:rPr lang="en-US" sz="1787">
                <a:solidFill>
                  <a:srgbClr val="000000"/>
                </a:solidFill>
                <a:latin typeface="TT Ramillas"/>
                <a:ea typeface="TT Ramillas"/>
                <a:cs typeface="TT Ramillas"/>
                <a:sym typeface="TT Ramillas"/>
              </a:rPr>
              <a:t>• Integrar variables de historial académico del estudiante</a:t>
            </a:r>
          </a:p>
          <a:p>
            <a:pPr algn="l" marL="0" indent="0" lvl="0">
              <a:lnSpc>
                <a:spcPts val="2502"/>
              </a:lnSpc>
            </a:pPr>
            <a:r>
              <a:rPr lang="en-US" sz="1787">
                <a:solidFill>
                  <a:srgbClr val="000000"/>
                </a:solidFill>
                <a:latin typeface="TT Ramillas"/>
                <a:ea typeface="TT Ramillas"/>
                <a:cs typeface="TT Ramillas"/>
                <a:sym typeface="TT Ramillas"/>
              </a:rPr>
              <a:t>• Implementar diferenciación de mensajes por rangos de calificación</a:t>
            </a:r>
          </a:p>
          <a:p>
            <a:pPr algn="l" marL="0" indent="0" lvl="0">
              <a:lnSpc>
                <a:spcPts val="2502"/>
              </a:lnSpc>
            </a:pPr>
            <a:r>
              <a:rPr lang="en-US" sz="1787">
                <a:solidFill>
                  <a:srgbClr val="000000"/>
                </a:solidFill>
                <a:latin typeface="TT Ramillas"/>
                <a:ea typeface="TT Ramillas"/>
                <a:cs typeface="TT Ramillas"/>
                <a:sym typeface="TT Ramillas"/>
              </a:rPr>
              <a:t>• Desarrollar vista de estudiante para visualización de feedback</a:t>
            </a:r>
          </a:p>
          <a:p>
            <a:pPr algn="l" marL="0" indent="0" lvl="0">
              <a:lnSpc>
                <a:spcPts val="2502"/>
              </a:lnSpc>
            </a:pPr>
            <a:r>
              <a:rPr lang="en-US" sz="1787">
                <a:solidFill>
                  <a:srgbClr val="000000"/>
                </a:solidFill>
                <a:latin typeface="TT Ramillas"/>
                <a:ea typeface="TT Ramillas"/>
                <a:cs typeface="TT Ramillas"/>
                <a:sym typeface="TT Ramillas"/>
              </a:rPr>
              <a:t>• Garantizar cumplimiento de Ley 21.719 de protección de datos</a:t>
            </a:r>
          </a:p>
          <a:p>
            <a:pPr algn="l" marL="0" indent="0" lvl="0">
              <a:lnSpc>
                <a:spcPts val="2502"/>
              </a:lnSpc>
            </a:pPr>
            <a:r>
              <a:rPr lang="en-US" sz="1787">
                <a:solidFill>
                  <a:srgbClr val="000000"/>
                </a:solidFill>
                <a:latin typeface="TT Ramillas"/>
                <a:ea typeface="TT Ramillas"/>
                <a:cs typeface="TT Ramillas"/>
                <a:sym typeface="TT Ramillas"/>
              </a:rPr>
              <a:t>• Asegurar tiempos de respuesta menores a 3 segundos</a:t>
            </a:r>
          </a:p>
          <a:p>
            <a:pPr algn="l" marL="0" indent="0" lvl="0">
              <a:lnSpc>
                <a:spcPts val="2502"/>
              </a:lnSpc>
            </a:pPr>
            <a:r>
              <a:rPr lang="en-US" sz="1787">
                <a:solidFill>
                  <a:srgbClr val="000000"/>
                </a:solidFill>
                <a:latin typeface="TT Ramillas"/>
                <a:ea typeface="TT Ramillas"/>
                <a:cs typeface="TT Ramillas"/>
                <a:sym typeface="TT Ramillas"/>
              </a:rPr>
              <a:t>• Ejecutar pruebas de integración con SpeedGrader</a:t>
            </a:r>
          </a:p>
          <a:p>
            <a:pPr algn="l" marL="0" indent="0" lvl="0">
              <a:lnSpc>
                <a:spcPts val="2502"/>
              </a:lnSpc>
            </a:pPr>
            <a:r>
              <a:rPr lang="en-US" sz="1787">
                <a:solidFill>
                  <a:srgbClr val="000000"/>
                </a:solidFill>
                <a:latin typeface="TT Ramillas"/>
                <a:ea typeface="TT Ramillas"/>
                <a:cs typeface="TT Ramillas"/>
                <a:sym typeface="TT Ramillas"/>
              </a:rPr>
              <a:t>• Documentar APIs y guías de instalación</a:t>
            </a:r>
          </a:p>
          <a:p>
            <a:pPr algn="l" marL="0" indent="0" lvl="0">
              <a:lnSpc>
                <a:spcPts val="2502"/>
              </a:lnSpc>
            </a:pPr>
            <a:r>
              <a:rPr lang="en-US" sz="1787">
                <a:solidFill>
                  <a:srgbClr val="000000"/>
                </a:solidFill>
                <a:latin typeface="TT Ramillas"/>
                <a:ea typeface="TT Ramillas"/>
                <a:cs typeface="TT Ramillas"/>
                <a:sym typeface="TT Ramillas"/>
              </a:rPr>
              <a:t>• Desplegar y validar en ambiente productivo Canvas LMS</a:t>
            </a:r>
          </a:p>
        </p:txBody>
      </p:sp>
      <p:grpSp>
        <p:nvGrpSpPr>
          <p:cNvPr name="Group 4" id="4"/>
          <p:cNvGrpSpPr/>
          <p:nvPr/>
        </p:nvGrpSpPr>
        <p:grpSpPr>
          <a:xfrm rot="0">
            <a:off x="-1307930" y="-535143"/>
            <a:ext cx="3020465" cy="11934400"/>
            <a:chOff x="0" y="0"/>
            <a:chExt cx="795514" cy="3143216"/>
          </a:xfrm>
        </p:grpSpPr>
        <p:sp>
          <p:nvSpPr>
            <p:cNvPr name="Freeform 5" id="5"/>
            <p:cNvSpPr/>
            <p:nvPr/>
          </p:nvSpPr>
          <p:spPr>
            <a:xfrm flipH="false" flipV="false" rot="0">
              <a:off x="0" y="0"/>
              <a:ext cx="795514" cy="3143216"/>
            </a:xfrm>
            <a:custGeom>
              <a:avLst/>
              <a:gdLst/>
              <a:ahLst/>
              <a:cxnLst/>
              <a:rect r="r" b="b" t="t" l="l"/>
              <a:pathLst>
                <a:path h="3143216" w="795514">
                  <a:moveTo>
                    <a:pt x="0" y="0"/>
                  </a:moveTo>
                  <a:lnTo>
                    <a:pt x="795514" y="0"/>
                  </a:lnTo>
                  <a:lnTo>
                    <a:pt x="795514" y="3143216"/>
                  </a:lnTo>
                  <a:lnTo>
                    <a:pt x="0" y="3143216"/>
                  </a:lnTo>
                  <a:close/>
                </a:path>
              </a:pathLst>
            </a:custGeom>
            <a:solidFill>
              <a:srgbClr val="094C69"/>
            </a:solidFill>
          </p:spPr>
        </p:sp>
        <p:sp>
          <p:nvSpPr>
            <p:cNvPr name="TextBox 6" id="6"/>
            <p:cNvSpPr txBox="true"/>
            <p:nvPr/>
          </p:nvSpPr>
          <p:spPr>
            <a:xfrm>
              <a:off x="0" y="-38100"/>
              <a:ext cx="795514" cy="3181316"/>
            </a:xfrm>
            <a:prstGeom prst="rect">
              <a:avLst/>
            </a:prstGeom>
          </p:spPr>
          <p:txBody>
            <a:bodyPr anchor="ctr" rtlCol="false" tIns="50800" lIns="50800" bIns="50800" rIns="50800"/>
            <a:lstStyle/>
            <a:p>
              <a:pPr algn="ctr" marL="0" indent="0" lvl="0">
                <a:lnSpc>
                  <a:spcPts val="2659"/>
                </a:lnSpc>
              </a:pPr>
            </a:p>
          </p:txBody>
        </p:sp>
      </p:grpSp>
      <p:sp>
        <p:nvSpPr>
          <p:cNvPr name="Freeform 7" id="7"/>
          <p:cNvSpPr/>
          <p:nvPr/>
        </p:nvSpPr>
        <p:spPr>
          <a:xfrm flipH="false" flipV="false" rot="-10800000">
            <a:off x="15452394" y="-293807"/>
            <a:ext cx="2339986" cy="3677778"/>
          </a:xfrm>
          <a:custGeom>
            <a:avLst/>
            <a:gdLst/>
            <a:ahLst/>
            <a:cxnLst/>
            <a:rect r="r" b="b" t="t" l="l"/>
            <a:pathLst>
              <a:path h="3677778" w="2339986">
                <a:moveTo>
                  <a:pt x="0" y="0"/>
                </a:moveTo>
                <a:lnTo>
                  <a:pt x="2339986" y="0"/>
                </a:lnTo>
                <a:lnTo>
                  <a:pt x="2339986" y="3677778"/>
                </a:lnTo>
                <a:lnTo>
                  <a:pt x="0" y="3677778"/>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4068362" y="-215044"/>
            <a:ext cx="2304584" cy="1760126"/>
          </a:xfrm>
          <a:custGeom>
            <a:avLst/>
            <a:gdLst/>
            <a:ahLst/>
            <a:cxnLst/>
            <a:rect r="r" b="b" t="t" l="l"/>
            <a:pathLst>
              <a:path h="1760126" w="2304584">
                <a:moveTo>
                  <a:pt x="0" y="0"/>
                </a:moveTo>
                <a:lnTo>
                  <a:pt x="2304584" y="0"/>
                </a:lnTo>
                <a:lnTo>
                  <a:pt x="2304584" y="1760126"/>
                </a:lnTo>
                <a:lnTo>
                  <a:pt x="0" y="1760126"/>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grpSp>
        <p:nvGrpSpPr>
          <p:cNvPr name="Group 2" id="2"/>
          <p:cNvGrpSpPr/>
          <p:nvPr/>
        </p:nvGrpSpPr>
        <p:grpSpPr>
          <a:xfrm rot="0">
            <a:off x="3343698" y="4112361"/>
            <a:ext cx="5227663" cy="888605"/>
            <a:chOff x="0" y="0"/>
            <a:chExt cx="1858746" cy="315952"/>
          </a:xfrm>
        </p:grpSpPr>
        <p:sp>
          <p:nvSpPr>
            <p:cNvPr name="Freeform 3" id="3"/>
            <p:cNvSpPr/>
            <p:nvPr/>
          </p:nvSpPr>
          <p:spPr>
            <a:xfrm flipH="false" flipV="false" rot="0">
              <a:off x="0" y="0"/>
              <a:ext cx="1858746" cy="315952"/>
            </a:xfrm>
            <a:custGeom>
              <a:avLst/>
              <a:gdLst/>
              <a:ahLst/>
              <a:cxnLst/>
              <a:rect r="r" b="b" t="t" l="l"/>
              <a:pathLst>
                <a:path h="315952" w="1858746">
                  <a:moveTo>
                    <a:pt x="0" y="0"/>
                  </a:moveTo>
                  <a:lnTo>
                    <a:pt x="1858746" y="0"/>
                  </a:lnTo>
                  <a:lnTo>
                    <a:pt x="1858746" y="315952"/>
                  </a:lnTo>
                  <a:lnTo>
                    <a:pt x="0" y="315952"/>
                  </a:lnTo>
                  <a:close/>
                </a:path>
              </a:pathLst>
            </a:custGeom>
            <a:solidFill>
              <a:srgbClr val="094C69"/>
            </a:solidFill>
            <a:ln cap="sq">
              <a:noFill/>
              <a:prstDash val="solid"/>
              <a:miter/>
            </a:ln>
          </p:spPr>
        </p:sp>
        <p:sp>
          <p:nvSpPr>
            <p:cNvPr name="TextBox 4" id="4"/>
            <p:cNvSpPr txBox="true"/>
            <p:nvPr/>
          </p:nvSpPr>
          <p:spPr>
            <a:xfrm>
              <a:off x="0" y="-38100"/>
              <a:ext cx="1858746"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9741579" y="4112361"/>
            <a:ext cx="5227663" cy="888605"/>
            <a:chOff x="0" y="0"/>
            <a:chExt cx="1858746" cy="315952"/>
          </a:xfrm>
        </p:grpSpPr>
        <p:sp>
          <p:nvSpPr>
            <p:cNvPr name="Freeform 6" id="6"/>
            <p:cNvSpPr/>
            <p:nvPr/>
          </p:nvSpPr>
          <p:spPr>
            <a:xfrm flipH="false" flipV="false" rot="0">
              <a:off x="0" y="0"/>
              <a:ext cx="1858746" cy="315952"/>
            </a:xfrm>
            <a:custGeom>
              <a:avLst/>
              <a:gdLst/>
              <a:ahLst/>
              <a:cxnLst/>
              <a:rect r="r" b="b" t="t" l="l"/>
              <a:pathLst>
                <a:path h="315952" w="1858746">
                  <a:moveTo>
                    <a:pt x="0" y="0"/>
                  </a:moveTo>
                  <a:lnTo>
                    <a:pt x="1858746" y="0"/>
                  </a:lnTo>
                  <a:lnTo>
                    <a:pt x="1858746" y="315952"/>
                  </a:lnTo>
                  <a:lnTo>
                    <a:pt x="0" y="315952"/>
                  </a:lnTo>
                  <a:close/>
                </a:path>
              </a:pathLst>
            </a:custGeom>
            <a:solidFill>
              <a:srgbClr val="094C69"/>
            </a:solidFill>
            <a:ln cap="sq">
              <a:noFill/>
              <a:prstDash val="solid"/>
              <a:miter/>
            </a:ln>
          </p:spPr>
        </p:sp>
        <p:sp>
          <p:nvSpPr>
            <p:cNvPr name="TextBox 7" id="7"/>
            <p:cNvSpPr txBox="true"/>
            <p:nvPr/>
          </p:nvSpPr>
          <p:spPr>
            <a:xfrm>
              <a:off x="0" y="-38100"/>
              <a:ext cx="1858746"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146359" y="9657397"/>
            <a:ext cx="20580718" cy="1930377"/>
            <a:chOff x="0" y="0"/>
            <a:chExt cx="5420436" cy="508412"/>
          </a:xfrm>
        </p:grpSpPr>
        <p:sp>
          <p:nvSpPr>
            <p:cNvPr name="Freeform 9" id="9"/>
            <p:cNvSpPr/>
            <p:nvPr/>
          </p:nvSpPr>
          <p:spPr>
            <a:xfrm flipH="false" flipV="false" rot="0">
              <a:off x="0" y="0"/>
              <a:ext cx="5420436" cy="508412"/>
            </a:xfrm>
            <a:custGeom>
              <a:avLst/>
              <a:gdLst/>
              <a:ahLst/>
              <a:cxnLst/>
              <a:rect r="r" b="b" t="t" l="l"/>
              <a:pathLst>
                <a:path h="508412" w="5420436">
                  <a:moveTo>
                    <a:pt x="0" y="0"/>
                  </a:moveTo>
                  <a:lnTo>
                    <a:pt x="5420436" y="0"/>
                  </a:lnTo>
                  <a:lnTo>
                    <a:pt x="5420436" y="508412"/>
                  </a:lnTo>
                  <a:lnTo>
                    <a:pt x="0" y="508412"/>
                  </a:lnTo>
                  <a:close/>
                </a:path>
              </a:pathLst>
            </a:custGeom>
            <a:solidFill>
              <a:srgbClr val="094C69"/>
            </a:solidFill>
          </p:spPr>
        </p:sp>
        <p:sp>
          <p:nvSpPr>
            <p:cNvPr name="TextBox 10" id="10"/>
            <p:cNvSpPr txBox="true"/>
            <p:nvPr/>
          </p:nvSpPr>
          <p:spPr>
            <a:xfrm>
              <a:off x="0" y="-38100"/>
              <a:ext cx="5420436" cy="546512"/>
            </a:xfrm>
            <a:prstGeom prst="rect">
              <a:avLst/>
            </a:prstGeom>
          </p:spPr>
          <p:txBody>
            <a:bodyPr anchor="ctr" rtlCol="false" tIns="50800" lIns="50800" bIns="50800" rIns="50800"/>
            <a:lstStyle/>
            <a:p>
              <a:pPr algn="ctr" marL="0" indent="0" lvl="0">
                <a:lnSpc>
                  <a:spcPts val="2659"/>
                </a:lnSpc>
              </a:pPr>
            </a:p>
          </p:txBody>
        </p:sp>
      </p:grpSp>
      <p:sp>
        <p:nvSpPr>
          <p:cNvPr name="Freeform 11" id="11"/>
          <p:cNvSpPr/>
          <p:nvPr/>
        </p:nvSpPr>
        <p:spPr>
          <a:xfrm flipH="false" flipV="false" rot="-10800000">
            <a:off x="15452394" y="-293807"/>
            <a:ext cx="2339986" cy="3677778"/>
          </a:xfrm>
          <a:custGeom>
            <a:avLst/>
            <a:gdLst/>
            <a:ahLst/>
            <a:cxnLst/>
            <a:rect r="r" b="b" t="t" l="l"/>
            <a:pathLst>
              <a:path h="3677778" w="2339986">
                <a:moveTo>
                  <a:pt x="0" y="0"/>
                </a:moveTo>
                <a:lnTo>
                  <a:pt x="2339986" y="0"/>
                </a:lnTo>
                <a:lnTo>
                  <a:pt x="2339986" y="3677778"/>
                </a:lnTo>
                <a:lnTo>
                  <a:pt x="0" y="3677778"/>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false" flipV="false" rot="0">
            <a:off x="14068362" y="-215044"/>
            <a:ext cx="2304584" cy="1760126"/>
          </a:xfrm>
          <a:custGeom>
            <a:avLst/>
            <a:gdLst/>
            <a:ahLst/>
            <a:cxnLst/>
            <a:rect r="r" b="b" t="t" l="l"/>
            <a:pathLst>
              <a:path h="1760126" w="2304584">
                <a:moveTo>
                  <a:pt x="0" y="0"/>
                </a:moveTo>
                <a:lnTo>
                  <a:pt x="2304584" y="0"/>
                </a:lnTo>
                <a:lnTo>
                  <a:pt x="2304584" y="1760126"/>
                </a:lnTo>
                <a:lnTo>
                  <a:pt x="0" y="1760126"/>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13" id="13"/>
          <p:cNvSpPr txBox="true"/>
          <p:nvPr/>
        </p:nvSpPr>
        <p:spPr>
          <a:xfrm rot="0">
            <a:off x="3343698" y="2396860"/>
            <a:ext cx="11625544" cy="883828"/>
          </a:xfrm>
          <a:prstGeom prst="rect">
            <a:avLst/>
          </a:prstGeom>
        </p:spPr>
        <p:txBody>
          <a:bodyPr anchor="t" rtlCol="false" tIns="0" lIns="0" bIns="0" rIns="0">
            <a:spAutoFit/>
          </a:bodyPr>
          <a:lstStyle/>
          <a:p>
            <a:pPr algn="ctr" marL="0" indent="0" lvl="0">
              <a:lnSpc>
                <a:spcPts val="6826"/>
              </a:lnSpc>
              <a:spcBef>
                <a:spcPct val="0"/>
              </a:spcBef>
            </a:pPr>
            <a:r>
              <a:rPr lang="en-US" sz="5987">
                <a:solidFill>
                  <a:srgbClr val="000000"/>
                </a:solidFill>
                <a:latin typeface="TT Ramillas"/>
                <a:ea typeface="TT Ramillas"/>
                <a:cs typeface="TT Ramillas"/>
                <a:sym typeface="TT Ramillas"/>
              </a:rPr>
              <a:t>PLANIFICACIÓN DEL PROYECTO</a:t>
            </a:r>
          </a:p>
        </p:txBody>
      </p:sp>
      <p:sp>
        <p:nvSpPr>
          <p:cNvPr name="TextBox 14" id="14"/>
          <p:cNvSpPr txBox="true"/>
          <p:nvPr/>
        </p:nvSpPr>
        <p:spPr>
          <a:xfrm rot="0">
            <a:off x="9614555" y="5325863"/>
            <a:ext cx="5481711" cy="2501455"/>
          </a:xfrm>
          <a:prstGeom prst="rect">
            <a:avLst/>
          </a:prstGeom>
        </p:spPr>
        <p:txBody>
          <a:bodyPr anchor="t" rtlCol="false" tIns="0" lIns="0" bIns="0" rIns="0">
            <a:spAutoFit/>
          </a:bodyPr>
          <a:lstStyle/>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Fase 4: Desarrollo Iterativo (6 semanas)</a:t>
            </a:r>
          </a:p>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Implementación incremental de módulos</a:t>
            </a:r>
          </a:p>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Fase 5: Pruebas e Integración (3 semanas)</a:t>
            </a:r>
          </a:p>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QA, testing y validación con Canvas</a:t>
            </a:r>
          </a:p>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Fase 6: Cierre (2 semanas)</a:t>
            </a:r>
          </a:p>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Documentación y entrega final</a:t>
            </a:r>
          </a:p>
        </p:txBody>
      </p:sp>
      <p:sp>
        <p:nvSpPr>
          <p:cNvPr name="TextBox 15" id="15"/>
          <p:cNvSpPr txBox="true"/>
          <p:nvPr/>
        </p:nvSpPr>
        <p:spPr>
          <a:xfrm rot="0">
            <a:off x="9933140" y="4241140"/>
            <a:ext cx="4844541" cy="559906"/>
          </a:xfrm>
          <a:prstGeom prst="rect">
            <a:avLst/>
          </a:prstGeom>
        </p:spPr>
        <p:txBody>
          <a:bodyPr anchor="t" rtlCol="false" tIns="0" lIns="0" bIns="0" rIns="0">
            <a:spAutoFit/>
          </a:bodyPr>
          <a:lstStyle/>
          <a:p>
            <a:pPr algn="ctr" marL="0" indent="0" lvl="0">
              <a:lnSpc>
                <a:spcPts val="4708"/>
              </a:lnSpc>
              <a:spcBef>
                <a:spcPct val="0"/>
              </a:spcBef>
            </a:pPr>
            <a:r>
              <a:rPr lang="en-US" b="true" sz="3097">
                <a:solidFill>
                  <a:srgbClr val="FFFFFF"/>
                </a:solidFill>
                <a:latin typeface="TT Ramillas Bold"/>
                <a:ea typeface="TT Ramillas Bold"/>
                <a:cs typeface="TT Ramillas Bold"/>
                <a:sym typeface="TT Ramillas Bold"/>
              </a:rPr>
              <a:t>Fases de Desarrollo</a:t>
            </a:r>
          </a:p>
        </p:txBody>
      </p:sp>
      <p:sp>
        <p:nvSpPr>
          <p:cNvPr name="TextBox 16" id="16"/>
          <p:cNvSpPr txBox="true"/>
          <p:nvPr/>
        </p:nvSpPr>
        <p:spPr>
          <a:xfrm rot="0">
            <a:off x="3191734" y="5325863"/>
            <a:ext cx="5628785" cy="2501455"/>
          </a:xfrm>
          <a:prstGeom prst="rect">
            <a:avLst/>
          </a:prstGeom>
        </p:spPr>
        <p:txBody>
          <a:bodyPr anchor="t" rtlCol="false" tIns="0" lIns="0" bIns="0" rIns="0">
            <a:spAutoFit/>
          </a:bodyPr>
          <a:lstStyle/>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Fase 1: Inicio (2 semanas)</a:t>
            </a:r>
          </a:p>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Definición de alcance y requisitos iniciales</a:t>
            </a:r>
          </a:p>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Fase 2: Análisis y Diseño (3 semanas)</a:t>
            </a:r>
          </a:p>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Arquitectura del sistema y diseño detallado</a:t>
            </a:r>
          </a:p>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Fase 3: Prototipo Spike Técnico (3 semanas)</a:t>
            </a:r>
          </a:p>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Validación técnica de integración LTI 1.3</a:t>
            </a:r>
          </a:p>
        </p:txBody>
      </p:sp>
      <p:sp>
        <p:nvSpPr>
          <p:cNvPr name="TextBox 17" id="17"/>
          <p:cNvSpPr txBox="true"/>
          <p:nvPr/>
        </p:nvSpPr>
        <p:spPr>
          <a:xfrm rot="0">
            <a:off x="3893041" y="4238845"/>
            <a:ext cx="4154043" cy="559906"/>
          </a:xfrm>
          <a:prstGeom prst="rect">
            <a:avLst/>
          </a:prstGeom>
        </p:spPr>
        <p:txBody>
          <a:bodyPr anchor="t" rtlCol="false" tIns="0" lIns="0" bIns="0" rIns="0">
            <a:spAutoFit/>
          </a:bodyPr>
          <a:lstStyle/>
          <a:p>
            <a:pPr algn="ctr" marL="0" indent="0" lvl="0">
              <a:lnSpc>
                <a:spcPts val="4708"/>
              </a:lnSpc>
              <a:spcBef>
                <a:spcPct val="0"/>
              </a:spcBef>
            </a:pPr>
            <a:r>
              <a:rPr lang="en-US" b="true" sz="3097">
                <a:solidFill>
                  <a:srgbClr val="FFFFFF"/>
                </a:solidFill>
                <a:latin typeface="TT Ramillas Bold"/>
                <a:ea typeface="TT Ramillas Bold"/>
                <a:cs typeface="TT Ramillas Bold"/>
                <a:sym typeface="TT Ramillas Bold"/>
              </a:rPr>
              <a:t>Fases Iniciales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grpSp>
        <p:nvGrpSpPr>
          <p:cNvPr name="Group 2" id="2"/>
          <p:cNvGrpSpPr/>
          <p:nvPr/>
        </p:nvGrpSpPr>
        <p:grpSpPr>
          <a:xfrm rot="0">
            <a:off x="1862173" y="4114244"/>
            <a:ext cx="4137001" cy="888605"/>
            <a:chOff x="0" y="0"/>
            <a:chExt cx="1470951" cy="315952"/>
          </a:xfrm>
        </p:grpSpPr>
        <p:sp>
          <p:nvSpPr>
            <p:cNvPr name="Freeform 3" id="3"/>
            <p:cNvSpPr/>
            <p:nvPr/>
          </p:nvSpPr>
          <p:spPr>
            <a:xfrm flipH="false" flipV="false" rot="0">
              <a:off x="0" y="0"/>
              <a:ext cx="1470951" cy="315952"/>
            </a:xfrm>
            <a:custGeom>
              <a:avLst/>
              <a:gdLst/>
              <a:ahLst/>
              <a:cxnLst/>
              <a:rect r="r" b="b" t="t" l="l"/>
              <a:pathLst>
                <a:path h="315952" w="1470951">
                  <a:moveTo>
                    <a:pt x="0" y="0"/>
                  </a:moveTo>
                  <a:lnTo>
                    <a:pt x="1470951" y="0"/>
                  </a:lnTo>
                  <a:lnTo>
                    <a:pt x="1470951" y="315952"/>
                  </a:lnTo>
                  <a:lnTo>
                    <a:pt x="0" y="315952"/>
                  </a:lnTo>
                  <a:close/>
                </a:path>
              </a:pathLst>
            </a:custGeom>
            <a:solidFill>
              <a:srgbClr val="094C69"/>
            </a:solidFill>
            <a:ln cap="sq">
              <a:noFill/>
              <a:prstDash val="solid"/>
              <a:miter/>
            </a:ln>
          </p:spPr>
        </p:sp>
        <p:sp>
          <p:nvSpPr>
            <p:cNvPr name="TextBox 4" id="4"/>
            <p:cNvSpPr txBox="true"/>
            <p:nvPr/>
          </p:nvSpPr>
          <p:spPr>
            <a:xfrm>
              <a:off x="0" y="-38100"/>
              <a:ext cx="1470951"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7142174" y="4114244"/>
            <a:ext cx="4137001" cy="888605"/>
            <a:chOff x="0" y="0"/>
            <a:chExt cx="1470951" cy="315952"/>
          </a:xfrm>
        </p:grpSpPr>
        <p:sp>
          <p:nvSpPr>
            <p:cNvPr name="Freeform 6" id="6"/>
            <p:cNvSpPr/>
            <p:nvPr/>
          </p:nvSpPr>
          <p:spPr>
            <a:xfrm flipH="false" flipV="false" rot="0">
              <a:off x="0" y="0"/>
              <a:ext cx="1470951" cy="315952"/>
            </a:xfrm>
            <a:custGeom>
              <a:avLst/>
              <a:gdLst/>
              <a:ahLst/>
              <a:cxnLst/>
              <a:rect r="r" b="b" t="t" l="l"/>
              <a:pathLst>
                <a:path h="315952" w="1470951">
                  <a:moveTo>
                    <a:pt x="0" y="0"/>
                  </a:moveTo>
                  <a:lnTo>
                    <a:pt x="1470951" y="0"/>
                  </a:lnTo>
                  <a:lnTo>
                    <a:pt x="1470951" y="315952"/>
                  </a:lnTo>
                  <a:lnTo>
                    <a:pt x="0" y="315952"/>
                  </a:lnTo>
                  <a:close/>
                </a:path>
              </a:pathLst>
            </a:custGeom>
            <a:solidFill>
              <a:srgbClr val="094C69"/>
            </a:solidFill>
            <a:ln cap="sq">
              <a:noFill/>
              <a:prstDash val="solid"/>
              <a:miter/>
            </a:ln>
          </p:spPr>
        </p:sp>
        <p:sp>
          <p:nvSpPr>
            <p:cNvPr name="TextBox 7" id="7"/>
            <p:cNvSpPr txBox="true"/>
            <p:nvPr/>
          </p:nvSpPr>
          <p:spPr>
            <a:xfrm>
              <a:off x="0" y="-38100"/>
              <a:ext cx="1470951"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2422176" y="4123632"/>
            <a:ext cx="4137001" cy="888605"/>
            <a:chOff x="0" y="0"/>
            <a:chExt cx="1470951" cy="315952"/>
          </a:xfrm>
        </p:grpSpPr>
        <p:sp>
          <p:nvSpPr>
            <p:cNvPr name="Freeform 9" id="9"/>
            <p:cNvSpPr/>
            <p:nvPr/>
          </p:nvSpPr>
          <p:spPr>
            <a:xfrm flipH="false" flipV="false" rot="0">
              <a:off x="0" y="0"/>
              <a:ext cx="1470951" cy="315952"/>
            </a:xfrm>
            <a:custGeom>
              <a:avLst/>
              <a:gdLst/>
              <a:ahLst/>
              <a:cxnLst/>
              <a:rect r="r" b="b" t="t" l="l"/>
              <a:pathLst>
                <a:path h="315952" w="1470951">
                  <a:moveTo>
                    <a:pt x="0" y="0"/>
                  </a:moveTo>
                  <a:lnTo>
                    <a:pt x="1470951" y="0"/>
                  </a:lnTo>
                  <a:lnTo>
                    <a:pt x="1470951" y="315952"/>
                  </a:lnTo>
                  <a:lnTo>
                    <a:pt x="0" y="315952"/>
                  </a:lnTo>
                  <a:close/>
                </a:path>
              </a:pathLst>
            </a:custGeom>
            <a:solidFill>
              <a:srgbClr val="094C69"/>
            </a:solidFill>
            <a:ln cap="sq">
              <a:noFill/>
              <a:prstDash val="solid"/>
              <a:miter/>
            </a:ln>
          </p:spPr>
        </p:sp>
        <p:sp>
          <p:nvSpPr>
            <p:cNvPr name="TextBox 10" id="10"/>
            <p:cNvSpPr txBox="true"/>
            <p:nvPr/>
          </p:nvSpPr>
          <p:spPr>
            <a:xfrm>
              <a:off x="0" y="-38100"/>
              <a:ext cx="1470951" cy="35405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3054329" y="2032994"/>
            <a:ext cx="1758568" cy="1956205"/>
          </a:xfrm>
          <a:custGeom>
            <a:avLst/>
            <a:gdLst/>
            <a:ahLst/>
            <a:cxnLst/>
            <a:rect r="r" b="b" t="t" l="l"/>
            <a:pathLst>
              <a:path h="1956205" w="1758568">
                <a:moveTo>
                  <a:pt x="0" y="0"/>
                </a:moveTo>
                <a:lnTo>
                  <a:pt x="1758568" y="0"/>
                </a:lnTo>
                <a:lnTo>
                  <a:pt x="1758568" y="1956205"/>
                </a:lnTo>
                <a:lnTo>
                  <a:pt x="0" y="1956205"/>
                </a:lnTo>
                <a:lnTo>
                  <a:pt x="0" y="0"/>
                </a:lnTo>
                <a:close/>
              </a:path>
            </a:pathLst>
          </a:custGeom>
          <a:blipFill>
            <a:blip r:embed="rId2"/>
            <a:stretch>
              <a:fillRect l="0" t="0" r="0" b="0"/>
            </a:stretch>
          </a:blipFill>
        </p:spPr>
      </p:sp>
      <p:sp>
        <p:nvSpPr>
          <p:cNvPr name="Freeform 12" id="12"/>
          <p:cNvSpPr/>
          <p:nvPr/>
        </p:nvSpPr>
        <p:spPr>
          <a:xfrm flipH="false" flipV="false" rot="0">
            <a:off x="13722679" y="2228359"/>
            <a:ext cx="1671102" cy="1746248"/>
          </a:xfrm>
          <a:custGeom>
            <a:avLst/>
            <a:gdLst/>
            <a:ahLst/>
            <a:cxnLst/>
            <a:rect r="r" b="b" t="t" l="l"/>
            <a:pathLst>
              <a:path h="1746248" w="1671102">
                <a:moveTo>
                  <a:pt x="0" y="0"/>
                </a:moveTo>
                <a:lnTo>
                  <a:pt x="1671103" y="0"/>
                </a:lnTo>
                <a:lnTo>
                  <a:pt x="1671103" y="1746248"/>
                </a:lnTo>
                <a:lnTo>
                  <a:pt x="0" y="1746248"/>
                </a:lnTo>
                <a:lnTo>
                  <a:pt x="0" y="0"/>
                </a:lnTo>
                <a:close/>
              </a:path>
            </a:pathLst>
          </a:custGeom>
          <a:blipFill>
            <a:blip r:embed="rId3"/>
            <a:stretch>
              <a:fillRect l="0" t="0" r="0" b="0"/>
            </a:stretch>
          </a:blipFill>
        </p:spPr>
      </p:sp>
      <p:sp>
        <p:nvSpPr>
          <p:cNvPr name="Freeform 13" id="13"/>
          <p:cNvSpPr/>
          <p:nvPr/>
        </p:nvSpPr>
        <p:spPr>
          <a:xfrm flipH="false" flipV="false" rot="0">
            <a:off x="8343993" y="2186417"/>
            <a:ext cx="1704398" cy="1658662"/>
          </a:xfrm>
          <a:custGeom>
            <a:avLst/>
            <a:gdLst/>
            <a:ahLst/>
            <a:cxnLst/>
            <a:rect r="r" b="b" t="t" l="l"/>
            <a:pathLst>
              <a:path h="1658662" w="1704398">
                <a:moveTo>
                  <a:pt x="0" y="0"/>
                </a:moveTo>
                <a:lnTo>
                  <a:pt x="1704397" y="0"/>
                </a:lnTo>
                <a:lnTo>
                  <a:pt x="1704397" y="1658663"/>
                </a:lnTo>
                <a:lnTo>
                  <a:pt x="0" y="1658663"/>
                </a:lnTo>
                <a:lnTo>
                  <a:pt x="0" y="0"/>
                </a:lnTo>
                <a:close/>
              </a:path>
            </a:pathLst>
          </a:custGeom>
          <a:blipFill>
            <a:blip r:embed="rId4"/>
            <a:stretch>
              <a:fillRect l="0" t="0" r="0" b="0"/>
            </a:stretch>
          </a:blipFill>
        </p:spPr>
      </p:sp>
      <p:sp>
        <p:nvSpPr>
          <p:cNvPr name="TextBox 14" id="14"/>
          <p:cNvSpPr txBox="true"/>
          <p:nvPr/>
        </p:nvSpPr>
        <p:spPr>
          <a:xfrm rot="0">
            <a:off x="2055146" y="4262060"/>
            <a:ext cx="3751055" cy="281415"/>
          </a:xfrm>
          <a:prstGeom prst="rect">
            <a:avLst/>
          </a:prstGeom>
        </p:spPr>
        <p:txBody>
          <a:bodyPr anchor="t" rtlCol="false" tIns="0" lIns="0" bIns="0" rIns="0">
            <a:spAutoFit/>
          </a:bodyPr>
          <a:lstStyle/>
          <a:p>
            <a:pPr algn="ctr" marL="0" indent="0" lvl="0">
              <a:lnSpc>
                <a:spcPts val="2201"/>
              </a:lnSpc>
              <a:spcBef>
                <a:spcPct val="0"/>
              </a:spcBef>
            </a:pPr>
            <a:r>
              <a:rPr lang="en-US" sz="1931">
                <a:solidFill>
                  <a:srgbClr val="FFFFFF"/>
                </a:solidFill>
                <a:latin typeface="TT Ramillas"/>
                <a:ea typeface="TT Ramillas"/>
                <a:cs typeface="TT Ramillas"/>
                <a:sym typeface="TT Ramillas"/>
              </a:rPr>
              <a:t>CALIDAD DEL FEEDBACK</a:t>
            </a:r>
          </a:p>
        </p:txBody>
      </p:sp>
      <p:sp>
        <p:nvSpPr>
          <p:cNvPr name="TextBox 15" id="15"/>
          <p:cNvSpPr txBox="true"/>
          <p:nvPr/>
        </p:nvSpPr>
        <p:spPr>
          <a:xfrm rot="0">
            <a:off x="1862173" y="5417904"/>
            <a:ext cx="4137001" cy="903732"/>
          </a:xfrm>
          <a:prstGeom prst="rect">
            <a:avLst/>
          </a:prstGeom>
        </p:spPr>
        <p:txBody>
          <a:bodyPr anchor="t" rtlCol="false" tIns="0" lIns="0" bIns="0" rIns="0">
            <a:spAutoFit/>
          </a:bodyPr>
          <a:lstStyle/>
          <a:p>
            <a:pPr algn="l" marL="0" indent="0" lvl="0">
              <a:lnSpc>
                <a:spcPts val="1824"/>
              </a:lnSpc>
              <a:spcBef>
                <a:spcPct val="0"/>
              </a:spcBef>
            </a:pPr>
            <a:r>
              <a:rPr lang="en-US" sz="1200" strike="noStrike" u="none">
                <a:solidFill>
                  <a:srgbClr val="000000"/>
                </a:solidFill>
                <a:latin typeface="TT Ramillas"/>
                <a:ea typeface="TT Ramillas"/>
                <a:cs typeface="TT Ramillas"/>
                <a:sym typeface="TT Ramillas"/>
              </a:rPr>
              <a:t>El plugin genera retroalimentación educativa de alta calidad mediante IA, ofreciendo comentarios específicos, constructivos y alineados con los objetivos de aprendizaje de cada evaluación.</a:t>
            </a:r>
          </a:p>
        </p:txBody>
      </p:sp>
      <p:sp>
        <p:nvSpPr>
          <p:cNvPr name="TextBox 16" id="16"/>
          <p:cNvSpPr txBox="true"/>
          <p:nvPr/>
        </p:nvSpPr>
        <p:spPr>
          <a:xfrm rot="0">
            <a:off x="7356046" y="4269022"/>
            <a:ext cx="3709257" cy="281415"/>
          </a:xfrm>
          <a:prstGeom prst="rect">
            <a:avLst/>
          </a:prstGeom>
        </p:spPr>
        <p:txBody>
          <a:bodyPr anchor="t" rtlCol="false" tIns="0" lIns="0" bIns="0" rIns="0">
            <a:spAutoFit/>
          </a:bodyPr>
          <a:lstStyle/>
          <a:p>
            <a:pPr algn="ctr" marL="0" indent="0" lvl="0">
              <a:lnSpc>
                <a:spcPts val="2201"/>
              </a:lnSpc>
              <a:spcBef>
                <a:spcPct val="0"/>
              </a:spcBef>
            </a:pPr>
            <a:r>
              <a:rPr lang="en-US" sz="1931">
                <a:solidFill>
                  <a:srgbClr val="FFFFFF"/>
                </a:solidFill>
                <a:latin typeface="TT Ramillas"/>
                <a:ea typeface="TT Ramillas"/>
                <a:cs typeface="TT Ramillas"/>
                <a:sym typeface="TT Ramillas"/>
              </a:rPr>
              <a:t>AHORRO DE TIEMPO</a:t>
            </a:r>
          </a:p>
        </p:txBody>
      </p:sp>
      <p:sp>
        <p:nvSpPr>
          <p:cNvPr name="TextBox 17" id="17"/>
          <p:cNvSpPr txBox="true"/>
          <p:nvPr/>
        </p:nvSpPr>
        <p:spPr>
          <a:xfrm rot="0">
            <a:off x="7142174" y="5417904"/>
            <a:ext cx="4137001" cy="903732"/>
          </a:xfrm>
          <a:prstGeom prst="rect">
            <a:avLst/>
          </a:prstGeom>
        </p:spPr>
        <p:txBody>
          <a:bodyPr anchor="t" rtlCol="false" tIns="0" lIns="0" bIns="0" rIns="0">
            <a:spAutoFit/>
          </a:bodyPr>
          <a:lstStyle/>
          <a:p>
            <a:pPr algn="l" marL="0" indent="0" lvl="0">
              <a:lnSpc>
                <a:spcPts val="1824"/>
              </a:lnSpc>
              <a:spcBef>
                <a:spcPct val="0"/>
              </a:spcBef>
            </a:pPr>
            <a:r>
              <a:rPr lang="en-US" sz="1200" strike="noStrike" u="none">
                <a:solidFill>
                  <a:srgbClr val="000000"/>
                </a:solidFill>
                <a:latin typeface="TT Ramillas"/>
                <a:ea typeface="TT Ramillas"/>
                <a:cs typeface="TT Ramillas"/>
                <a:sym typeface="TT Ramillas"/>
              </a:rPr>
              <a:t>Automatiza la generación de feedback personalizado, reduciendo significativamente la carga de trabajo docente y permitiendo que los profesores se enfoquen en actividades de mayor valor pedagógico.</a:t>
            </a:r>
          </a:p>
        </p:txBody>
      </p:sp>
      <p:sp>
        <p:nvSpPr>
          <p:cNvPr name="TextBox 18" id="18"/>
          <p:cNvSpPr txBox="true"/>
          <p:nvPr/>
        </p:nvSpPr>
        <p:spPr>
          <a:xfrm rot="0">
            <a:off x="12714442" y="4280973"/>
            <a:ext cx="3552468" cy="587387"/>
          </a:xfrm>
          <a:prstGeom prst="rect">
            <a:avLst/>
          </a:prstGeom>
        </p:spPr>
        <p:txBody>
          <a:bodyPr anchor="t" rtlCol="false" tIns="0" lIns="0" bIns="0" rIns="0">
            <a:spAutoFit/>
          </a:bodyPr>
          <a:lstStyle/>
          <a:p>
            <a:pPr algn="ctr" marL="0" indent="0" lvl="0">
              <a:lnSpc>
                <a:spcPts val="2376"/>
              </a:lnSpc>
              <a:spcBef>
                <a:spcPct val="0"/>
              </a:spcBef>
            </a:pPr>
            <a:r>
              <a:rPr lang="en-US" sz="2084">
                <a:solidFill>
                  <a:srgbClr val="FFFFFF"/>
                </a:solidFill>
                <a:latin typeface="TT Ramillas"/>
                <a:ea typeface="TT Ramillas"/>
                <a:cs typeface="TT Ramillas"/>
                <a:sym typeface="TT Ramillas"/>
              </a:rPr>
              <a:t>APRENDIZAJE PERSONALIZADO</a:t>
            </a:r>
          </a:p>
        </p:txBody>
      </p:sp>
      <p:sp>
        <p:nvSpPr>
          <p:cNvPr name="TextBox 19" id="19"/>
          <p:cNvSpPr txBox="true"/>
          <p:nvPr/>
        </p:nvSpPr>
        <p:spPr>
          <a:xfrm rot="0">
            <a:off x="12422176" y="5465529"/>
            <a:ext cx="4137001" cy="903732"/>
          </a:xfrm>
          <a:prstGeom prst="rect">
            <a:avLst/>
          </a:prstGeom>
        </p:spPr>
        <p:txBody>
          <a:bodyPr anchor="t" rtlCol="false" tIns="0" lIns="0" bIns="0" rIns="0">
            <a:spAutoFit/>
          </a:bodyPr>
          <a:lstStyle/>
          <a:p>
            <a:pPr algn="l" marL="0" indent="0" lvl="0">
              <a:lnSpc>
                <a:spcPts val="1824"/>
              </a:lnSpc>
              <a:spcBef>
                <a:spcPct val="0"/>
              </a:spcBef>
            </a:pPr>
            <a:r>
              <a:rPr lang="en-US" sz="1200" strike="noStrike" u="none">
                <a:solidFill>
                  <a:srgbClr val="000000"/>
                </a:solidFill>
                <a:latin typeface="TT Ramillas"/>
                <a:ea typeface="TT Ramillas"/>
                <a:cs typeface="TT Ramillas"/>
                <a:sym typeface="TT Ramillas"/>
              </a:rPr>
              <a:t>Cada estudiante recibe retroalimentación adaptada a su historial académico y desempeño individual, creando una experiencia de aprendizaje única que responde a sus necesidades específicas.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grpSp>
        <p:nvGrpSpPr>
          <p:cNvPr name="Group 2" id="2"/>
          <p:cNvGrpSpPr/>
          <p:nvPr/>
        </p:nvGrpSpPr>
        <p:grpSpPr>
          <a:xfrm rot="0">
            <a:off x="1862173" y="4114244"/>
            <a:ext cx="4137001" cy="888605"/>
            <a:chOff x="0" y="0"/>
            <a:chExt cx="1470951" cy="315952"/>
          </a:xfrm>
        </p:grpSpPr>
        <p:sp>
          <p:nvSpPr>
            <p:cNvPr name="Freeform 3" id="3"/>
            <p:cNvSpPr/>
            <p:nvPr/>
          </p:nvSpPr>
          <p:spPr>
            <a:xfrm flipH="false" flipV="false" rot="0">
              <a:off x="0" y="0"/>
              <a:ext cx="1470951" cy="315952"/>
            </a:xfrm>
            <a:custGeom>
              <a:avLst/>
              <a:gdLst/>
              <a:ahLst/>
              <a:cxnLst/>
              <a:rect r="r" b="b" t="t" l="l"/>
              <a:pathLst>
                <a:path h="315952" w="1470951">
                  <a:moveTo>
                    <a:pt x="0" y="0"/>
                  </a:moveTo>
                  <a:lnTo>
                    <a:pt x="1470951" y="0"/>
                  </a:lnTo>
                  <a:lnTo>
                    <a:pt x="1470951" y="315952"/>
                  </a:lnTo>
                  <a:lnTo>
                    <a:pt x="0" y="315952"/>
                  </a:lnTo>
                  <a:close/>
                </a:path>
              </a:pathLst>
            </a:custGeom>
            <a:solidFill>
              <a:srgbClr val="094C69"/>
            </a:solidFill>
            <a:ln cap="sq">
              <a:noFill/>
              <a:prstDash val="solid"/>
              <a:miter/>
            </a:ln>
          </p:spPr>
        </p:sp>
        <p:sp>
          <p:nvSpPr>
            <p:cNvPr name="TextBox 4" id="4"/>
            <p:cNvSpPr txBox="true"/>
            <p:nvPr/>
          </p:nvSpPr>
          <p:spPr>
            <a:xfrm>
              <a:off x="0" y="-38100"/>
              <a:ext cx="1470951"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7142174" y="4114244"/>
            <a:ext cx="4137001" cy="888605"/>
            <a:chOff x="0" y="0"/>
            <a:chExt cx="1470951" cy="315952"/>
          </a:xfrm>
        </p:grpSpPr>
        <p:sp>
          <p:nvSpPr>
            <p:cNvPr name="Freeform 6" id="6"/>
            <p:cNvSpPr/>
            <p:nvPr/>
          </p:nvSpPr>
          <p:spPr>
            <a:xfrm flipH="false" flipV="false" rot="0">
              <a:off x="0" y="0"/>
              <a:ext cx="1470951" cy="315952"/>
            </a:xfrm>
            <a:custGeom>
              <a:avLst/>
              <a:gdLst/>
              <a:ahLst/>
              <a:cxnLst/>
              <a:rect r="r" b="b" t="t" l="l"/>
              <a:pathLst>
                <a:path h="315952" w="1470951">
                  <a:moveTo>
                    <a:pt x="0" y="0"/>
                  </a:moveTo>
                  <a:lnTo>
                    <a:pt x="1470951" y="0"/>
                  </a:lnTo>
                  <a:lnTo>
                    <a:pt x="1470951" y="315952"/>
                  </a:lnTo>
                  <a:lnTo>
                    <a:pt x="0" y="315952"/>
                  </a:lnTo>
                  <a:close/>
                </a:path>
              </a:pathLst>
            </a:custGeom>
            <a:solidFill>
              <a:srgbClr val="094C69"/>
            </a:solidFill>
            <a:ln cap="sq">
              <a:noFill/>
              <a:prstDash val="solid"/>
              <a:miter/>
            </a:ln>
          </p:spPr>
        </p:sp>
        <p:sp>
          <p:nvSpPr>
            <p:cNvPr name="TextBox 7" id="7"/>
            <p:cNvSpPr txBox="true"/>
            <p:nvPr/>
          </p:nvSpPr>
          <p:spPr>
            <a:xfrm>
              <a:off x="0" y="-38100"/>
              <a:ext cx="1470951"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2422176" y="4123632"/>
            <a:ext cx="4137001" cy="888605"/>
            <a:chOff x="0" y="0"/>
            <a:chExt cx="1470951" cy="315952"/>
          </a:xfrm>
        </p:grpSpPr>
        <p:sp>
          <p:nvSpPr>
            <p:cNvPr name="Freeform 9" id="9"/>
            <p:cNvSpPr/>
            <p:nvPr/>
          </p:nvSpPr>
          <p:spPr>
            <a:xfrm flipH="false" flipV="false" rot="0">
              <a:off x="0" y="0"/>
              <a:ext cx="1470951" cy="315952"/>
            </a:xfrm>
            <a:custGeom>
              <a:avLst/>
              <a:gdLst/>
              <a:ahLst/>
              <a:cxnLst/>
              <a:rect r="r" b="b" t="t" l="l"/>
              <a:pathLst>
                <a:path h="315952" w="1470951">
                  <a:moveTo>
                    <a:pt x="0" y="0"/>
                  </a:moveTo>
                  <a:lnTo>
                    <a:pt x="1470951" y="0"/>
                  </a:lnTo>
                  <a:lnTo>
                    <a:pt x="1470951" y="315952"/>
                  </a:lnTo>
                  <a:lnTo>
                    <a:pt x="0" y="315952"/>
                  </a:lnTo>
                  <a:close/>
                </a:path>
              </a:pathLst>
            </a:custGeom>
            <a:solidFill>
              <a:srgbClr val="094C69"/>
            </a:solidFill>
            <a:ln cap="sq">
              <a:noFill/>
              <a:prstDash val="solid"/>
              <a:miter/>
            </a:ln>
          </p:spPr>
        </p:sp>
        <p:sp>
          <p:nvSpPr>
            <p:cNvPr name="TextBox 10" id="10"/>
            <p:cNvSpPr txBox="true"/>
            <p:nvPr/>
          </p:nvSpPr>
          <p:spPr>
            <a:xfrm>
              <a:off x="0" y="-38100"/>
              <a:ext cx="1470951" cy="35405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2957048" y="1931793"/>
            <a:ext cx="1945199" cy="1712808"/>
          </a:xfrm>
          <a:custGeom>
            <a:avLst/>
            <a:gdLst/>
            <a:ahLst/>
            <a:cxnLst/>
            <a:rect r="r" b="b" t="t" l="l"/>
            <a:pathLst>
              <a:path h="1712808" w="1945199">
                <a:moveTo>
                  <a:pt x="0" y="0"/>
                </a:moveTo>
                <a:lnTo>
                  <a:pt x="1945199" y="0"/>
                </a:lnTo>
                <a:lnTo>
                  <a:pt x="1945199" y="1712808"/>
                </a:lnTo>
                <a:lnTo>
                  <a:pt x="0" y="1712808"/>
                </a:lnTo>
                <a:lnTo>
                  <a:pt x="0" y="0"/>
                </a:lnTo>
                <a:close/>
              </a:path>
            </a:pathLst>
          </a:custGeom>
          <a:blipFill>
            <a:blip r:embed="rId2"/>
            <a:stretch>
              <a:fillRect l="0" t="0" r="0" b="0"/>
            </a:stretch>
          </a:blipFill>
        </p:spPr>
      </p:sp>
      <p:sp>
        <p:nvSpPr>
          <p:cNvPr name="Freeform 12" id="12"/>
          <p:cNvSpPr/>
          <p:nvPr/>
        </p:nvSpPr>
        <p:spPr>
          <a:xfrm flipH="false" flipV="false" rot="0">
            <a:off x="13032797" y="2050583"/>
            <a:ext cx="2445888" cy="1644722"/>
          </a:xfrm>
          <a:custGeom>
            <a:avLst/>
            <a:gdLst/>
            <a:ahLst/>
            <a:cxnLst/>
            <a:rect r="r" b="b" t="t" l="l"/>
            <a:pathLst>
              <a:path h="1644722" w="2445888">
                <a:moveTo>
                  <a:pt x="0" y="0"/>
                </a:moveTo>
                <a:lnTo>
                  <a:pt x="2445888" y="0"/>
                </a:lnTo>
                <a:lnTo>
                  <a:pt x="2445888" y="1644722"/>
                </a:lnTo>
                <a:lnTo>
                  <a:pt x="0" y="1644722"/>
                </a:lnTo>
                <a:lnTo>
                  <a:pt x="0" y="0"/>
                </a:lnTo>
                <a:close/>
              </a:path>
            </a:pathLst>
          </a:custGeom>
          <a:blipFill>
            <a:blip r:embed="rId3"/>
            <a:stretch>
              <a:fillRect l="0" t="0" r="0" b="0"/>
            </a:stretch>
          </a:blipFill>
        </p:spPr>
      </p:sp>
      <p:sp>
        <p:nvSpPr>
          <p:cNvPr name="Freeform 13" id="13"/>
          <p:cNvSpPr/>
          <p:nvPr/>
        </p:nvSpPr>
        <p:spPr>
          <a:xfrm flipH="false" flipV="false" rot="0">
            <a:off x="8299299" y="1910215"/>
            <a:ext cx="1788135" cy="1933119"/>
          </a:xfrm>
          <a:custGeom>
            <a:avLst/>
            <a:gdLst/>
            <a:ahLst/>
            <a:cxnLst/>
            <a:rect r="r" b="b" t="t" l="l"/>
            <a:pathLst>
              <a:path h="1933119" w="1788135">
                <a:moveTo>
                  <a:pt x="0" y="0"/>
                </a:moveTo>
                <a:lnTo>
                  <a:pt x="1788134" y="0"/>
                </a:lnTo>
                <a:lnTo>
                  <a:pt x="1788134" y="1933119"/>
                </a:lnTo>
                <a:lnTo>
                  <a:pt x="0" y="1933119"/>
                </a:lnTo>
                <a:lnTo>
                  <a:pt x="0" y="0"/>
                </a:lnTo>
                <a:close/>
              </a:path>
            </a:pathLst>
          </a:custGeom>
          <a:blipFill>
            <a:blip r:embed="rId4"/>
            <a:stretch>
              <a:fillRect l="0" t="0" r="0" b="0"/>
            </a:stretch>
          </a:blipFill>
        </p:spPr>
      </p:sp>
      <p:sp>
        <p:nvSpPr>
          <p:cNvPr name="TextBox 14" id="14"/>
          <p:cNvSpPr txBox="true"/>
          <p:nvPr/>
        </p:nvSpPr>
        <p:spPr>
          <a:xfrm rot="0">
            <a:off x="2055146" y="4262060"/>
            <a:ext cx="3751055" cy="321469"/>
          </a:xfrm>
          <a:prstGeom prst="rect">
            <a:avLst/>
          </a:prstGeom>
        </p:spPr>
        <p:txBody>
          <a:bodyPr anchor="t" rtlCol="false" tIns="0" lIns="0" bIns="0" rIns="0">
            <a:spAutoFit/>
          </a:bodyPr>
          <a:lstStyle/>
          <a:p>
            <a:pPr algn="ctr" marL="0" indent="0" lvl="0">
              <a:lnSpc>
                <a:spcPts val="2493"/>
              </a:lnSpc>
              <a:spcBef>
                <a:spcPct val="0"/>
              </a:spcBef>
            </a:pPr>
            <a:r>
              <a:rPr lang="en-US" sz="2187">
                <a:solidFill>
                  <a:srgbClr val="FFFFFF"/>
                </a:solidFill>
                <a:latin typeface="TT Ramillas"/>
                <a:ea typeface="TT Ramillas"/>
                <a:cs typeface="TT Ramillas"/>
                <a:sym typeface="TT Ramillas"/>
              </a:rPr>
              <a:t>IDENTIFICACIÓN DE RIESGO</a:t>
            </a:r>
          </a:p>
        </p:txBody>
      </p:sp>
      <p:sp>
        <p:nvSpPr>
          <p:cNvPr name="TextBox 15" id="15"/>
          <p:cNvSpPr txBox="true"/>
          <p:nvPr/>
        </p:nvSpPr>
        <p:spPr>
          <a:xfrm rot="0">
            <a:off x="1862173" y="5398854"/>
            <a:ext cx="4137001" cy="2513638"/>
          </a:xfrm>
          <a:prstGeom prst="rect">
            <a:avLst/>
          </a:prstGeom>
        </p:spPr>
        <p:txBody>
          <a:bodyPr anchor="t" rtlCol="false" tIns="0" lIns="0" bIns="0" rIns="0">
            <a:spAutoFit/>
          </a:bodyPr>
          <a:lstStyle/>
          <a:p>
            <a:pPr algn="l" marL="0" indent="0" lvl="0">
              <a:lnSpc>
                <a:spcPts val="2885"/>
              </a:lnSpc>
              <a:spcBef>
                <a:spcPct val="0"/>
              </a:spcBef>
            </a:pPr>
            <a:r>
              <a:rPr lang="en-US" sz="1898" strike="noStrike" u="none">
                <a:solidFill>
                  <a:srgbClr val="000000"/>
                </a:solidFill>
                <a:latin typeface="TT Ramillas"/>
                <a:ea typeface="TT Ramillas"/>
                <a:cs typeface="TT Ramillas"/>
                <a:sym typeface="TT Ramillas"/>
              </a:rPr>
              <a:t>El sistema detecta patrones de bajo rendimiento y señales de alerta temprana, permitiendo intervenciones oportunas antes de que los estudiantes enfrenten situaciones críticas de deserción o reprobación.</a:t>
            </a:r>
          </a:p>
        </p:txBody>
      </p:sp>
      <p:sp>
        <p:nvSpPr>
          <p:cNvPr name="TextBox 16" id="16"/>
          <p:cNvSpPr txBox="true"/>
          <p:nvPr/>
        </p:nvSpPr>
        <p:spPr>
          <a:xfrm rot="0">
            <a:off x="7356046" y="4269022"/>
            <a:ext cx="3709257" cy="321469"/>
          </a:xfrm>
          <a:prstGeom prst="rect">
            <a:avLst/>
          </a:prstGeom>
        </p:spPr>
        <p:txBody>
          <a:bodyPr anchor="t" rtlCol="false" tIns="0" lIns="0" bIns="0" rIns="0">
            <a:spAutoFit/>
          </a:bodyPr>
          <a:lstStyle/>
          <a:p>
            <a:pPr algn="ctr" marL="0" indent="0" lvl="0">
              <a:lnSpc>
                <a:spcPts val="2493"/>
              </a:lnSpc>
              <a:spcBef>
                <a:spcPct val="0"/>
              </a:spcBef>
            </a:pPr>
            <a:r>
              <a:rPr lang="en-US" sz="2187">
                <a:solidFill>
                  <a:srgbClr val="FFFFFF"/>
                </a:solidFill>
                <a:latin typeface="TT Ramillas"/>
                <a:ea typeface="TT Ramillas"/>
                <a:cs typeface="TT Ramillas"/>
                <a:sym typeface="TT Ramillas"/>
              </a:rPr>
              <a:t>INVESTIGACIÓN</a:t>
            </a:r>
          </a:p>
        </p:txBody>
      </p:sp>
      <p:sp>
        <p:nvSpPr>
          <p:cNvPr name="TextBox 17" id="17"/>
          <p:cNvSpPr txBox="true"/>
          <p:nvPr/>
        </p:nvSpPr>
        <p:spPr>
          <a:xfrm rot="0">
            <a:off x="7142174" y="5398854"/>
            <a:ext cx="4137001" cy="2151688"/>
          </a:xfrm>
          <a:prstGeom prst="rect">
            <a:avLst/>
          </a:prstGeom>
        </p:spPr>
        <p:txBody>
          <a:bodyPr anchor="t" rtlCol="false" tIns="0" lIns="0" bIns="0" rIns="0">
            <a:spAutoFit/>
          </a:bodyPr>
          <a:lstStyle/>
          <a:p>
            <a:pPr algn="l" marL="0" indent="0" lvl="0">
              <a:lnSpc>
                <a:spcPts val="2885"/>
              </a:lnSpc>
              <a:spcBef>
                <a:spcPct val="0"/>
              </a:spcBef>
            </a:pPr>
            <a:r>
              <a:rPr lang="en-US" sz="1898" strike="noStrike" u="none">
                <a:solidFill>
                  <a:srgbClr val="000000"/>
                </a:solidFill>
                <a:latin typeface="TT Ramillas"/>
                <a:ea typeface="TT Ramillas"/>
                <a:cs typeface="TT Ramillas"/>
                <a:sym typeface="TT Ramillas"/>
              </a:rPr>
              <a:t>Genera datos valiosos sobre efectividad del feedback educativo, apoyando la producción de papers académicos y estudios que fortalecen el posicionamiento institucional en innovación pedagógica.</a:t>
            </a:r>
          </a:p>
        </p:txBody>
      </p:sp>
      <p:sp>
        <p:nvSpPr>
          <p:cNvPr name="TextBox 18" id="18"/>
          <p:cNvSpPr txBox="true"/>
          <p:nvPr/>
        </p:nvSpPr>
        <p:spPr>
          <a:xfrm rot="0">
            <a:off x="12714442" y="4280973"/>
            <a:ext cx="3552468" cy="522732"/>
          </a:xfrm>
          <a:prstGeom prst="rect">
            <a:avLst/>
          </a:prstGeom>
        </p:spPr>
        <p:txBody>
          <a:bodyPr anchor="t" rtlCol="false" tIns="0" lIns="0" bIns="0" rIns="0">
            <a:spAutoFit/>
          </a:bodyPr>
          <a:lstStyle/>
          <a:p>
            <a:pPr algn="ctr" marL="0" indent="0" lvl="0">
              <a:lnSpc>
                <a:spcPts val="4104"/>
              </a:lnSpc>
              <a:spcBef>
                <a:spcPct val="0"/>
              </a:spcBef>
            </a:pPr>
            <a:r>
              <a:rPr lang="en-US" sz="3600">
                <a:solidFill>
                  <a:srgbClr val="FFFFFF"/>
                </a:solidFill>
                <a:latin typeface="TT Ramillas"/>
                <a:ea typeface="TT Ramillas"/>
                <a:cs typeface="TT Ramillas"/>
                <a:sym typeface="TT Ramillas"/>
              </a:rPr>
              <a:t>ESCALABILIDAD</a:t>
            </a:r>
          </a:p>
        </p:txBody>
      </p:sp>
      <p:sp>
        <p:nvSpPr>
          <p:cNvPr name="TextBox 19" id="19"/>
          <p:cNvSpPr txBox="true"/>
          <p:nvPr/>
        </p:nvSpPr>
        <p:spPr>
          <a:xfrm rot="0">
            <a:off x="12422176" y="5446479"/>
            <a:ext cx="4137001" cy="1789738"/>
          </a:xfrm>
          <a:prstGeom prst="rect">
            <a:avLst/>
          </a:prstGeom>
        </p:spPr>
        <p:txBody>
          <a:bodyPr anchor="t" rtlCol="false" tIns="0" lIns="0" bIns="0" rIns="0">
            <a:spAutoFit/>
          </a:bodyPr>
          <a:lstStyle/>
          <a:p>
            <a:pPr algn="l" marL="0" indent="0" lvl="0">
              <a:lnSpc>
                <a:spcPts val="2885"/>
              </a:lnSpc>
              <a:spcBef>
                <a:spcPct val="0"/>
              </a:spcBef>
            </a:pPr>
            <a:r>
              <a:rPr lang="en-US" sz="1898" strike="noStrike" u="none">
                <a:solidFill>
                  <a:srgbClr val="000000"/>
                </a:solidFill>
                <a:latin typeface="TT Ramillas"/>
                <a:ea typeface="TT Ramillas"/>
                <a:cs typeface="TT Ramillas"/>
                <a:sym typeface="TT Ramillas"/>
              </a:rPr>
              <a:t>Arquitectura modular y estándar LTI 1.3 permite replicar la solución en otras universidades e instituciones educativas, maximizando el impacto y retorno de la inversión en desarrollo.</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grpSp>
        <p:nvGrpSpPr>
          <p:cNvPr name="Group 2" id="2"/>
          <p:cNvGrpSpPr/>
          <p:nvPr/>
        </p:nvGrpSpPr>
        <p:grpSpPr>
          <a:xfrm rot="0">
            <a:off x="3343698" y="4112361"/>
            <a:ext cx="5227663" cy="888605"/>
            <a:chOff x="0" y="0"/>
            <a:chExt cx="1858746" cy="315952"/>
          </a:xfrm>
        </p:grpSpPr>
        <p:sp>
          <p:nvSpPr>
            <p:cNvPr name="Freeform 3" id="3"/>
            <p:cNvSpPr/>
            <p:nvPr/>
          </p:nvSpPr>
          <p:spPr>
            <a:xfrm flipH="false" flipV="false" rot="0">
              <a:off x="0" y="0"/>
              <a:ext cx="1858746" cy="315952"/>
            </a:xfrm>
            <a:custGeom>
              <a:avLst/>
              <a:gdLst/>
              <a:ahLst/>
              <a:cxnLst/>
              <a:rect r="r" b="b" t="t" l="l"/>
              <a:pathLst>
                <a:path h="315952" w="1858746">
                  <a:moveTo>
                    <a:pt x="0" y="0"/>
                  </a:moveTo>
                  <a:lnTo>
                    <a:pt x="1858746" y="0"/>
                  </a:lnTo>
                  <a:lnTo>
                    <a:pt x="1858746" y="315952"/>
                  </a:lnTo>
                  <a:lnTo>
                    <a:pt x="0" y="315952"/>
                  </a:lnTo>
                  <a:close/>
                </a:path>
              </a:pathLst>
            </a:custGeom>
            <a:solidFill>
              <a:srgbClr val="094C69"/>
            </a:solidFill>
            <a:ln cap="sq">
              <a:noFill/>
              <a:prstDash val="solid"/>
              <a:miter/>
            </a:ln>
          </p:spPr>
        </p:sp>
        <p:sp>
          <p:nvSpPr>
            <p:cNvPr name="TextBox 4" id="4"/>
            <p:cNvSpPr txBox="true"/>
            <p:nvPr/>
          </p:nvSpPr>
          <p:spPr>
            <a:xfrm>
              <a:off x="0" y="-38100"/>
              <a:ext cx="1858746"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9741579" y="4112361"/>
            <a:ext cx="5227663" cy="888605"/>
            <a:chOff x="0" y="0"/>
            <a:chExt cx="1858746" cy="315952"/>
          </a:xfrm>
        </p:grpSpPr>
        <p:sp>
          <p:nvSpPr>
            <p:cNvPr name="Freeform 6" id="6"/>
            <p:cNvSpPr/>
            <p:nvPr/>
          </p:nvSpPr>
          <p:spPr>
            <a:xfrm flipH="false" flipV="false" rot="0">
              <a:off x="0" y="0"/>
              <a:ext cx="1858746" cy="315952"/>
            </a:xfrm>
            <a:custGeom>
              <a:avLst/>
              <a:gdLst/>
              <a:ahLst/>
              <a:cxnLst/>
              <a:rect r="r" b="b" t="t" l="l"/>
              <a:pathLst>
                <a:path h="315952" w="1858746">
                  <a:moveTo>
                    <a:pt x="0" y="0"/>
                  </a:moveTo>
                  <a:lnTo>
                    <a:pt x="1858746" y="0"/>
                  </a:lnTo>
                  <a:lnTo>
                    <a:pt x="1858746" y="315952"/>
                  </a:lnTo>
                  <a:lnTo>
                    <a:pt x="0" y="315952"/>
                  </a:lnTo>
                  <a:close/>
                </a:path>
              </a:pathLst>
            </a:custGeom>
            <a:solidFill>
              <a:srgbClr val="094C69"/>
            </a:solidFill>
            <a:ln cap="sq">
              <a:noFill/>
              <a:prstDash val="solid"/>
              <a:miter/>
            </a:ln>
          </p:spPr>
        </p:sp>
        <p:sp>
          <p:nvSpPr>
            <p:cNvPr name="TextBox 7" id="7"/>
            <p:cNvSpPr txBox="true"/>
            <p:nvPr/>
          </p:nvSpPr>
          <p:spPr>
            <a:xfrm>
              <a:off x="0" y="-38100"/>
              <a:ext cx="1858746" cy="35405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146359" y="9657397"/>
            <a:ext cx="20580718" cy="1930377"/>
            <a:chOff x="0" y="0"/>
            <a:chExt cx="5420436" cy="508412"/>
          </a:xfrm>
        </p:grpSpPr>
        <p:sp>
          <p:nvSpPr>
            <p:cNvPr name="Freeform 9" id="9"/>
            <p:cNvSpPr/>
            <p:nvPr/>
          </p:nvSpPr>
          <p:spPr>
            <a:xfrm flipH="false" flipV="false" rot="0">
              <a:off x="0" y="0"/>
              <a:ext cx="5420436" cy="508412"/>
            </a:xfrm>
            <a:custGeom>
              <a:avLst/>
              <a:gdLst/>
              <a:ahLst/>
              <a:cxnLst/>
              <a:rect r="r" b="b" t="t" l="l"/>
              <a:pathLst>
                <a:path h="508412" w="5420436">
                  <a:moveTo>
                    <a:pt x="0" y="0"/>
                  </a:moveTo>
                  <a:lnTo>
                    <a:pt x="5420436" y="0"/>
                  </a:lnTo>
                  <a:lnTo>
                    <a:pt x="5420436" y="508412"/>
                  </a:lnTo>
                  <a:lnTo>
                    <a:pt x="0" y="508412"/>
                  </a:lnTo>
                  <a:close/>
                </a:path>
              </a:pathLst>
            </a:custGeom>
            <a:solidFill>
              <a:srgbClr val="094C69"/>
            </a:solidFill>
          </p:spPr>
        </p:sp>
        <p:sp>
          <p:nvSpPr>
            <p:cNvPr name="TextBox 10" id="10"/>
            <p:cNvSpPr txBox="true"/>
            <p:nvPr/>
          </p:nvSpPr>
          <p:spPr>
            <a:xfrm>
              <a:off x="0" y="-38100"/>
              <a:ext cx="5420436" cy="546512"/>
            </a:xfrm>
            <a:prstGeom prst="rect">
              <a:avLst/>
            </a:prstGeom>
          </p:spPr>
          <p:txBody>
            <a:bodyPr anchor="ctr" rtlCol="false" tIns="50800" lIns="50800" bIns="50800" rIns="50800"/>
            <a:lstStyle/>
            <a:p>
              <a:pPr algn="ctr" marL="0" indent="0" lvl="0">
                <a:lnSpc>
                  <a:spcPts val="2659"/>
                </a:lnSpc>
              </a:pPr>
            </a:p>
          </p:txBody>
        </p:sp>
      </p:grpSp>
      <p:sp>
        <p:nvSpPr>
          <p:cNvPr name="Freeform 11" id="11"/>
          <p:cNvSpPr/>
          <p:nvPr/>
        </p:nvSpPr>
        <p:spPr>
          <a:xfrm flipH="false" flipV="false" rot="-10800000">
            <a:off x="15452394" y="-293807"/>
            <a:ext cx="2339986" cy="3677778"/>
          </a:xfrm>
          <a:custGeom>
            <a:avLst/>
            <a:gdLst/>
            <a:ahLst/>
            <a:cxnLst/>
            <a:rect r="r" b="b" t="t" l="l"/>
            <a:pathLst>
              <a:path h="3677778" w="2339986">
                <a:moveTo>
                  <a:pt x="0" y="0"/>
                </a:moveTo>
                <a:lnTo>
                  <a:pt x="2339986" y="0"/>
                </a:lnTo>
                <a:lnTo>
                  <a:pt x="2339986" y="3677778"/>
                </a:lnTo>
                <a:lnTo>
                  <a:pt x="0" y="3677778"/>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false" flipV="false" rot="0">
            <a:off x="14068362" y="-215044"/>
            <a:ext cx="2304584" cy="1760126"/>
          </a:xfrm>
          <a:custGeom>
            <a:avLst/>
            <a:gdLst/>
            <a:ahLst/>
            <a:cxnLst/>
            <a:rect r="r" b="b" t="t" l="l"/>
            <a:pathLst>
              <a:path h="1760126" w="2304584">
                <a:moveTo>
                  <a:pt x="0" y="0"/>
                </a:moveTo>
                <a:lnTo>
                  <a:pt x="2304584" y="0"/>
                </a:lnTo>
                <a:lnTo>
                  <a:pt x="2304584" y="1760126"/>
                </a:lnTo>
                <a:lnTo>
                  <a:pt x="0" y="1760126"/>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13" id="13"/>
          <p:cNvSpPr txBox="true"/>
          <p:nvPr/>
        </p:nvSpPr>
        <p:spPr>
          <a:xfrm rot="0">
            <a:off x="3343698" y="2396860"/>
            <a:ext cx="11625544" cy="883828"/>
          </a:xfrm>
          <a:prstGeom prst="rect">
            <a:avLst/>
          </a:prstGeom>
        </p:spPr>
        <p:txBody>
          <a:bodyPr anchor="t" rtlCol="false" tIns="0" lIns="0" bIns="0" rIns="0">
            <a:spAutoFit/>
          </a:bodyPr>
          <a:lstStyle/>
          <a:p>
            <a:pPr algn="ctr" marL="0" indent="0" lvl="0">
              <a:lnSpc>
                <a:spcPts val="6826"/>
              </a:lnSpc>
              <a:spcBef>
                <a:spcPct val="0"/>
              </a:spcBef>
            </a:pPr>
            <a:r>
              <a:rPr lang="en-US" sz="5987">
                <a:solidFill>
                  <a:srgbClr val="000000"/>
                </a:solidFill>
                <a:latin typeface="TT Ramillas"/>
                <a:ea typeface="TT Ramillas"/>
                <a:cs typeface="TT Ramillas"/>
                <a:sym typeface="TT Ramillas"/>
              </a:rPr>
              <a:t>PANELES Y VISTAS DEL SISTEMA</a:t>
            </a:r>
          </a:p>
        </p:txBody>
      </p:sp>
      <p:sp>
        <p:nvSpPr>
          <p:cNvPr name="TextBox 14" id="14"/>
          <p:cNvSpPr txBox="true"/>
          <p:nvPr/>
        </p:nvSpPr>
        <p:spPr>
          <a:xfrm rot="0">
            <a:off x="9614555" y="5325863"/>
            <a:ext cx="5481711" cy="2920555"/>
          </a:xfrm>
          <a:prstGeom prst="rect">
            <a:avLst/>
          </a:prstGeom>
        </p:spPr>
        <p:txBody>
          <a:bodyPr anchor="t" rtlCol="false" tIns="0" lIns="0" bIns="0" rIns="0">
            <a:spAutoFit/>
          </a:bodyPr>
          <a:lstStyle/>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Visualización de feedback personalizado integrado en Canvas. El estudiante accede a mensajes adaptativos según su rendimiento histórico. Panel de administración disponible para configuración del sistema y gestión de plantillas.</a:t>
            </a:r>
          </a:p>
        </p:txBody>
      </p:sp>
      <p:sp>
        <p:nvSpPr>
          <p:cNvPr name="TextBox 15" id="15"/>
          <p:cNvSpPr txBox="true"/>
          <p:nvPr/>
        </p:nvSpPr>
        <p:spPr>
          <a:xfrm rot="0">
            <a:off x="9933140" y="4241140"/>
            <a:ext cx="4844541" cy="559906"/>
          </a:xfrm>
          <a:prstGeom prst="rect">
            <a:avLst/>
          </a:prstGeom>
        </p:spPr>
        <p:txBody>
          <a:bodyPr anchor="t" rtlCol="false" tIns="0" lIns="0" bIns="0" rIns="0">
            <a:spAutoFit/>
          </a:bodyPr>
          <a:lstStyle/>
          <a:p>
            <a:pPr algn="ctr" marL="0" indent="0" lvl="0">
              <a:lnSpc>
                <a:spcPts val="4708"/>
              </a:lnSpc>
              <a:spcBef>
                <a:spcPct val="0"/>
              </a:spcBef>
            </a:pPr>
            <a:r>
              <a:rPr lang="en-US" b="true" sz="3097">
                <a:solidFill>
                  <a:srgbClr val="FFFFFF"/>
                </a:solidFill>
                <a:latin typeface="TT Ramillas Bold"/>
                <a:ea typeface="TT Ramillas Bold"/>
                <a:cs typeface="TT Ramillas Bold"/>
                <a:sym typeface="TT Ramillas Bold"/>
              </a:rPr>
              <a:t>Vista del Estudiante</a:t>
            </a:r>
          </a:p>
        </p:txBody>
      </p:sp>
      <p:sp>
        <p:nvSpPr>
          <p:cNvPr name="TextBox 16" id="16"/>
          <p:cNvSpPr txBox="true"/>
          <p:nvPr/>
        </p:nvSpPr>
        <p:spPr>
          <a:xfrm rot="0">
            <a:off x="3191734" y="5325863"/>
            <a:ext cx="5628785" cy="2501455"/>
          </a:xfrm>
          <a:prstGeom prst="rect">
            <a:avLst/>
          </a:prstGeom>
        </p:spPr>
        <p:txBody>
          <a:bodyPr anchor="t" rtlCol="false" tIns="0" lIns="0" bIns="0" rIns="0">
            <a:spAutoFit/>
          </a:bodyPr>
          <a:lstStyle/>
          <a:p>
            <a:pPr algn="ctr" marL="0" indent="0" lvl="0">
              <a:lnSpc>
                <a:spcPts val="3341"/>
              </a:lnSpc>
              <a:spcBef>
                <a:spcPct val="0"/>
              </a:spcBef>
            </a:pPr>
            <a:r>
              <a:rPr lang="en-US" sz="2198" strike="noStrike" u="none">
                <a:solidFill>
                  <a:srgbClr val="000000"/>
                </a:solidFill>
                <a:latin typeface="TT Ramillas"/>
                <a:ea typeface="TT Ramillas"/>
                <a:cs typeface="TT Ramillas"/>
                <a:sym typeface="TT Ramillas"/>
              </a:rPr>
              <a:t>Interfaz de revisión y aprobación de feedback generado por IA. Permite al docente visualizar, editar y aprobar mensajes antes de enviarlos al estudiante. Incluye filtros por curso, asignación y estado de revisión.</a:t>
            </a:r>
          </a:p>
        </p:txBody>
      </p:sp>
      <p:sp>
        <p:nvSpPr>
          <p:cNvPr name="TextBox 17" id="17"/>
          <p:cNvSpPr txBox="true"/>
          <p:nvPr/>
        </p:nvSpPr>
        <p:spPr>
          <a:xfrm rot="0">
            <a:off x="3893041" y="4238845"/>
            <a:ext cx="4154043" cy="559906"/>
          </a:xfrm>
          <a:prstGeom prst="rect">
            <a:avLst/>
          </a:prstGeom>
        </p:spPr>
        <p:txBody>
          <a:bodyPr anchor="t" rtlCol="false" tIns="0" lIns="0" bIns="0" rIns="0">
            <a:spAutoFit/>
          </a:bodyPr>
          <a:lstStyle/>
          <a:p>
            <a:pPr algn="ctr" marL="0" indent="0" lvl="0">
              <a:lnSpc>
                <a:spcPts val="4708"/>
              </a:lnSpc>
              <a:spcBef>
                <a:spcPct val="0"/>
              </a:spcBef>
            </a:pPr>
            <a:r>
              <a:rPr lang="en-US" b="true" sz="3097">
                <a:solidFill>
                  <a:srgbClr val="FFFFFF"/>
                </a:solidFill>
                <a:latin typeface="TT Ramillas Bold"/>
                <a:ea typeface="TT Ramillas Bold"/>
                <a:cs typeface="TT Ramillas Bold"/>
                <a:sym typeface="TT Ramillas Bold"/>
              </a:rPr>
              <a:t>Panel del Profesor</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EF7"/>
        </a:solidFill>
      </p:bgPr>
    </p:bg>
    <p:spTree>
      <p:nvGrpSpPr>
        <p:cNvPr id="1" name=""/>
        <p:cNvGrpSpPr/>
        <p:nvPr/>
      </p:nvGrpSpPr>
      <p:grpSpPr>
        <a:xfrm>
          <a:off x="0" y="0"/>
          <a:ext cx="0" cy="0"/>
          <a:chOff x="0" y="0"/>
          <a:chExt cx="0" cy="0"/>
        </a:xfrm>
      </p:grpSpPr>
      <p:sp>
        <p:nvSpPr>
          <p:cNvPr name="TextBox 2" id="2"/>
          <p:cNvSpPr txBox="true"/>
          <p:nvPr/>
        </p:nvSpPr>
        <p:spPr>
          <a:xfrm rot="0">
            <a:off x="3957480" y="5537511"/>
            <a:ext cx="10373041" cy="3722364"/>
          </a:xfrm>
          <a:prstGeom prst="rect">
            <a:avLst/>
          </a:prstGeom>
        </p:spPr>
        <p:txBody>
          <a:bodyPr anchor="t" rtlCol="false" tIns="0" lIns="0" bIns="0" rIns="0">
            <a:spAutoFit/>
          </a:bodyPr>
          <a:lstStyle/>
          <a:p>
            <a:pPr algn="ctr" marL="0" indent="0" lvl="0">
              <a:lnSpc>
                <a:spcPts val="7283"/>
              </a:lnSpc>
              <a:spcBef>
                <a:spcPct val="0"/>
              </a:spcBef>
            </a:pPr>
            <a:r>
              <a:rPr lang="en-US" b="true" sz="6807">
                <a:solidFill>
                  <a:srgbClr val="094C69"/>
                </a:solidFill>
                <a:latin typeface="TT Ramillas Bold"/>
                <a:ea typeface="TT Ramillas Bold"/>
                <a:cs typeface="TT Ramillas Bold"/>
                <a:sym typeface="TT Ramillas Bold"/>
              </a:rPr>
              <a:t>Gracias por su atención</a:t>
            </a:r>
          </a:p>
          <a:p>
            <a:pPr algn="ctr" marL="0" indent="0" lvl="0">
              <a:lnSpc>
                <a:spcPts val="7283"/>
              </a:lnSpc>
              <a:spcBef>
                <a:spcPct val="0"/>
              </a:spcBef>
            </a:pPr>
            <a:r>
              <a:rPr lang="en-US" b="true" sz="6807">
                <a:solidFill>
                  <a:srgbClr val="094C69"/>
                </a:solidFill>
                <a:latin typeface="TT Ramillas Bold"/>
                <a:ea typeface="TT Ramillas Bold"/>
                <a:cs typeface="TT Ramillas Bold"/>
                <a:sym typeface="TT Ramillas Bold"/>
              </a:rPr>
              <a:t>¿Preguntas?</a:t>
            </a:r>
          </a:p>
          <a:p>
            <a:pPr algn="ctr" marL="0" indent="0" lvl="0">
              <a:lnSpc>
                <a:spcPts val="7283"/>
              </a:lnSpc>
              <a:spcBef>
                <a:spcPct val="0"/>
              </a:spcBef>
            </a:pPr>
            <a:r>
              <a:rPr lang="en-US" b="true" sz="6807">
                <a:solidFill>
                  <a:srgbClr val="094C69"/>
                </a:solidFill>
                <a:latin typeface="TT Ramillas Bold"/>
                <a:ea typeface="TT Ramillas Bold"/>
                <a:cs typeface="TT Ramillas Bold"/>
                <a:sym typeface="TT Ramillas Bold"/>
              </a:rPr>
              <a:t>Contacto del equipo disponible</a:t>
            </a:r>
          </a:p>
        </p:txBody>
      </p:sp>
      <p:sp>
        <p:nvSpPr>
          <p:cNvPr name="Freeform 3" id="3"/>
          <p:cNvSpPr/>
          <p:nvPr/>
        </p:nvSpPr>
        <p:spPr>
          <a:xfrm flipH="false" flipV="false" rot="0">
            <a:off x="7918632" y="3777364"/>
            <a:ext cx="2450737" cy="1234559"/>
          </a:xfrm>
          <a:custGeom>
            <a:avLst/>
            <a:gdLst/>
            <a:ahLst/>
            <a:cxnLst/>
            <a:rect r="r" b="b" t="t" l="l"/>
            <a:pathLst>
              <a:path h="1234559" w="2450737">
                <a:moveTo>
                  <a:pt x="0" y="0"/>
                </a:moveTo>
                <a:lnTo>
                  <a:pt x="2450736" y="0"/>
                </a:lnTo>
                <a:lnTo>
                  <a:pt x="2450736" y="1234559"/>
                </a:lnTo>
                <a:lnTo>
                  <a:pt x="0" y="12345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DAHHozMAlQU</dc:identifier>
  <dcterms:modified xsi:type="dcterms:W3CDTF">2011-08-01T06:04:30Z</dcterms:modified>
  <cp:revision>1</cp:revision>
  <dc:title>Plugin Feedback Canvas: Adaptative LMS Feedback System</dc:title>
</cp:coreProperties>
</file>